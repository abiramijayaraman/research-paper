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-946" y="-23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713232"/>
            <a:ext cx="100584" cy="5166360"/>
          </a:xfrm>
          <a:prstGeom prst="rect">
            <a:avLst/>
          </a:prstGeom>
          <a:solidFill>
            <a:srgbClr val="008B91"/>
          </a:solidFill>
          <a:ln>
            <a:solidFill>
              <a:srgbClr val="008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60120" y="749808"/>
            <a:ext cx="5120640" cy="22860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8B91"/>
                </a:solidFill>
                <a:latin typeface="Aptos"/>
              </a:rPr>
              <a:t>RESEARCH PAPER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417320"/>
            <a:ext cx="10332720" cy="11704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9304E"/>
                </a:solidFill>
                <a:latin typeface="Aptos"/>
              </a:rPr>
              <a:t>Specialized Decision Models
vs. General-Purpose LLMs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2761488"/>
            <a:ext cx="9784080" cy="63402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 dirty="0">
                <a:solidFill>
                  <a:schemeClr val="accent1">
                    <a:lumMod val="75000"/>
                  </a:schemeClr>
                </a:solidFill>
                <a:latin typeface="Aptos"/>
              </a:rPr>
              <a:t>Benchmarking </a:t>
            </a:r>
            <a:r>
              <a:rPr sz="2000" b="1" i="0" dirty="0" err="1">
                <a:solidFill>
                  <a:schemeClr val="accent1">
                    <a:lumMod val="75000"/>
                  </a:schemeClr>
                </a:solidFill>
                <a:latin typeface="Aptos"/>
              </a:rPr>
              <a:t>Jev</a:t>
            </a:r>
            <a:r>
              <a:rPr sz="2000" b="1" i="0" dirty="0">
                <a:solidFill>
                  <a:schemeClr val="accent1">
                    <a:lumMod val="75000"/>
                  </a:schemeClr>
                </a:solidFill>
                <a:latin typeface="Aptos"/>
              </a:rPr>
              <a:t> Across Knowledge, Reasoning,
and Multilingual Tasks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4096512"/>
            <a:ext cx="2743200" cy="804672"/>
          </a:xfrm>
          <a:prstGeom prst="roundRect">
            <a:avLst>
              <a:gd name="adj" fmla="val 12000"/>
            </a:avLst>
          </a:prstGeom>
          <a:solidFill>
            <a:srgbClr val="E7F6F5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61288" y="4242816"/>
            <a:ext cx="2286000" cy="16459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dirty="0">
                <a:solidFill>
                  <a:srgbClr val="008B91"/>
                </a:solidFill>
                <a:latin typeface="Aptos"/>
              </a:rPr>
              <a:t>PRESENTED BY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4462272"/>
            <a:ext cx="2286000" cy="2560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9304E"/>
                </a:solidFill>
                <a:latin typeface="Aptos"/>
              </a:rPr>
              <a:t>Abirami J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5925312"/>
            <a:ext cx="8961120" cy="203133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5B7089"/>
                </a:solidFill>
                <a:latin typeface="Aptos"/>
              </a:rPr>
              <a:t>A comparative look at specialized decisions and general-purpose language models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395720"/>
            <a:ext cx="11064240" cy="22860"/>
          </a:xfrm>
          <a:prstGeom prst="rect">
            <a:avLst/>
          </a:prstGeom>
          <a:solidFill>
            <a:srgbClr val="DAE4ED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8123" y="1417320"/>
            <a:ext cx="2835275" cy="2446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9184" y="256032"/>
            <a:ext cx="68580" cy="384048"/>
          </a:xfrm>
          <a:prstGeom prst="rect">
            <a:avLst/>
          </a:prstGeom>
          <a:solidFill>
            <a:srgbClr val="008B91"/>
          </a:solidFill>
          <a:ln>
            <a:solidFill>
              <a:srgbClr val="008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182880"/>
            <a:ext cx="11155680" cy="4754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9304E"/>
                </a:solidFill>
                <a:latin typeface="Aptos"/>
              </a:rPr>
              <a:t>General-Purpose LLMs vs. Specialized Decision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" y="713232"/>
            <a:ext cx="10881360" cy="2011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8B91"/>
                </a:solidFill>
                <a:latin typeface="Aptos"/>
              </a:rPr>
              <a:t>UNDERSTANDING THE TWO APPROACHES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784" y="950976"/>
            <a:ext cx="658368" cy="41148"/>
          </a:xfrm>
          <a:prstGeom prst="rect">
            <a:avLst/>
          </a:prstGeom>
          <a:solidFill>
            <a:srgbClr val="008B91"/>
          </a:solidFill>
          <a:ln>
            <a:solidFill>
              <a:srgbClr val="008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76072" y="1086457"/>
            <a:ext cx="10972800" cy="2831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 dirty="0">
                <a:solidFill>
                  <a:schemeClr val="accent1">
                    <a:lumMod val="50000"/>
                  </a:schemeClr>
                </a:solidFill>
                <a:latin typeface="Aptos"/>
              </a:rPr>
              <a:t>The study asks whether every structured decision requires a broad, general-purpose language model.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6459728"/>
            <a:ext cx="11475720" cy="16459"/>
          </a:xfrm>
          <a:prstGeom prst="rect">
            <a:avLst/>
          </a:prstGeom>
          <a:solidFill>
            <a:srgbClr val="DAE4ED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356848" y="6611112"/>
            <a:ext cx="38404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B7089"/>
                </a:solidFill>
                <a:latin typeface="Aptos"/>
              </a:rP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572768"/>
            <a:ext cx="5376672" cy="3154680"/>
          </a:xfrm>
          <a:prstGeom prst="roundRect">
            <a:avLst>
              <a:gd name="adj" fmla="val 12000"/>
            </a:avLst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1719072"/>
            <a:ext cx="50292" cy="2862072"/>
          </a:xfrm>
          <a:prstGeom prst="rect">
            <a:avLst/>
          </a:prstGeom>
          <a:solidFill>
            <a:srgbClr val="376397"/>
          </a:solidFill>
          <a:ln>
            <a:solidFill>
              <a:srgbClr val="376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1728216"/>
            <a:ext cx="4992624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9304E"/>
                </a:solidFill>
                <a:latin typeface="Aptos"/>
              </a:rPr>
              <a:t>1. General-Purpose LLMs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121408"/>
            <a:ext cx="4983480" cy="22529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buChar char="•"/>
              <a:defRPr sz="1320">
                <a:solidFill>
                  <a:srgbClr val="25374E"/>
                </a:solidFill>
                <a:latin typeface="Aptos"/>
              </a:defRPr>
            </a:pPr>
            <a:r>
              <a:rPr sz="1600" dirty="0"/>
              <a:t>Wide range of applications: question answering, text classification, information verification and text generation.</a:t>
            </a:r>
          </a:p>
          <a:p>
            <a:pPr>
              <a:buChar char="•"/>
              <a:defRPr sz="1320">
                <a:solidFill>
                  <a:srgbClr val="25374E"/>
                </a:solidFill>
                <a:latin typeface="Aptos"/>
              </a:defRPr>
            </a:pPr>
            <a:r>
              <a:rPr sz="1600" dirty="0"/>
              <a:t>Flexible capabilities: perform different tasks without being restricted to one application.</a:t>
            </a:r>
          </a:p>
          <a:p>
            <a:pPr>
              <a:buChar char="•"/>
              <a:defRPr sz="1320">
                <a:solidFill>
                  <a:srgbClr val="25374E"/>
                </a:solidFill>
                <a:latin typeface="Aptos"/>
              </a:defRPr>
            </a:pPr>
            <a:r>
              <a:rPr sz="1600" dirty="0" err="1"/>
              <a:t>Optimisation</a:t>
            </a:r>
            <a:r>
              <a:rPr sz="1600" dirty="0"/>
              <a:t>: commonly trained using RLHF and RLVF.</a:t>
            </a:r>
          </a:p>
          <a:p>
            <a:pPr>
              <a:buChar char="•"/>
              <a:defRPr sz="1320">
                <a:solidFill>
                  <a:srgbClr val="25374E"/>
                </a:solidFill>
                <a:latin typeface="Aptos"/>
              </a:defRPr>
            </a:pPr>
            <a:r>
              <a:rPr sz="1600" dirty="0"/>
              <a:t>Potential limitation: broad capabilities may be unnecessary for simple, specific decisions.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1572768"/>
            <a:ext cx="5376672" cy="3154680"/>
          </a:xfrm>
          <a:prstGeom prst="roundRect">
            <a:avLst>
              <a:gd name="adj" fmla="val 12000"/>
            </a:avLst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55080" y="1719072"/>
            <a:ext cx="50292" cy="2862072"/>
          </a:xfrm>
          <a:prstGeom prst="rect">
            <a:avLst/>
          </a:prstGeom>
          <a:solidFill>
            <a:srgbClr val="008B91"/>
          </a:solidFill>
          <a:ln>
            <a:solidFill>
              <a:srgbClr val="008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1728216"/>
            <a:ext cx="4992624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9304E"/>
                </a:solidFill>
                <a:latin typeface="Aptos"/>
              </a:rPr>
              <a:t>2. Specialized Decision 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121408"/>
            <a:ext cx="4983480" cy="159120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300"/>
              </a:spcAft>
              <a:defRPr sz="1400" b="0" i="0">
                <a:solidFill>
                  <a:srgbClr val="2B3542"/>
                </a:solidFill>
                <a:latin typeface="Aptos"/>
              </a:defRPr>
            </a:pPr>
            <a:r>
              <a:rPr lang="en-US" sz="1600" dirty="0"/>
              <a:t>• Are designed or adapted for particular tasks.</a:t>
            </a:r>
          </a:p>
          <a:p>
            <a:pPr>
              <a:spcAft>
                <a:spcPts val="300"/>
              </a:spcAft>
              <a:defRPr sz="1400" b="0" i="0">
                <a:solidFill>
                  <a:srgbClr val="2B3542"/>
                </a:solidFill>
                <a:latin typeface="Aptos"/>
              </a:defRPr>
            </a:pPr>
            <a:r>
              <a:rPr lang="en-US" sz="1600" dirty="0"/>
              <a:t>• Can perform better on certain tasks, even when smaller.</a:t>
            </a:r>
          </a:p>
          <a:p>
            <a:pPr>
              <a:buChar char="•"/>
              <a:defRPr sz="1360">
                <a:solidFill>
                  <a:srgbClr val="25374E"/>
                </a:solidFill>
                <a:latin typeface="Aptos"/>
              </a:defRPr>
            </a:pPr>
            <a:r>
              <a:rPr sz="1600" dirty="0" smtClean="0"/>
              <a:t>Application-oriented</a:t>
            </a:r>
            <a:r>
              <a:rPr sz="1600" dirty="0"/>
              <a:t>: useful for classification, routing, information verification and other decision-based tasks.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" y="5010912"/>
            <a:ext cx="10588752" cy="987552"/>
          </a:xfrm>
          <a:prstGeom prst="roundRect">
            <a:avLst>
              <a:gd name="adj" fmla="val 12000"/>
            </a:avLst>
          </a:prstGeom>
          <a:solidFill>
            <a:srgbClr val="F5F8FB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24128" y="5157216"/>
            <a:ext cx="1508760" cy="449354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 dirty="0">
                <a:solidFill>
                  <a:srgbClr val="008B91"/>
                </a:solidFill>
                <a:latin typeface="Aptos"/>
              </a:rPr>
              <a:t>RESEARCH QUESTION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42032" y="5129784"/>
            <a:ext cx="8549640" cy="64008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9304E"/>
                </a:solidFill>
                <a:latin typeface="Aptos"/>
              </a:rPr>
              <a:t>To what extent can specialized decision models match general-purpose LLMs on tasks with fixed answer options, and where do their capabilities begin to differ?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9184" y="256032"/>
            <a:ext cx="68580" cy="384048"/>
          </a:xfrm>
          <a:prstGeom prst="rect">
            <a:avLst/>
          </a:prstGeom>
          <a:solidFill>
            <a:srgbClr val="008B91"/>
          </a:solidFill>
          <a:ln>
            <a:solidFill>
              <a:srgbClr val="008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182880"/>
            <a:ext cx="11155680" cy="4754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9304E"/>
                </a:solidFill>
                <a:latin typeface="Aptos"/>
              </a:rPr>
              <a:t>Meet Jev: A Specialized System 1 Decision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" y="713232"/>
            <a:ext cx="10881360" cy="2011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8B91"/>
                </a:solidFill>
                <a:latin typeface="Aptos"/>
              </a:rPr>
              <a:t>THE MODEL AT THE CENTRE OF THE STUDY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784" y="950976"/>
            <a:ext cx="658368" cy="41148"/>
          </a:xfrm>
          <a:prstGeom prst="rect">
            <a:avLst/>
          </a:prstGeom>
          <a:solidFill>
            <a:srgbClr val="008B91"/>
          </a:solidFill>
          <a:ln>
            <a:solidFill>
              <a:srgbClr val="008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47472" y="6480048"/>
            <a:ext cx="11475720" cy="16459"/>
          </a:xfrm>
          <a:prstGeom prst="rect">
            <a:avLst/>
          </a:prstGeom>
          <a:solidFill>
            <a:srgbClr val="DAE4ED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356848" y="6611112"/>
            <a:ext cx="38404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B7089"/>
                </a:solidFill>
                <a:latin typeface="Aptos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298448"/>
            <a:ext cx="5623560" cy="4160520"/>
          </a:xfrm>
          <a:prstGeom prst="roundRect">
            <a:avLst>
              <a:gd name="adj" fmla="val 12000"/>
            </a:avLst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6092" y="1444751"/>
            <a:ext cx="50292" cy="3867911"/>
          </a:xfrm>
          <a:prstGeom prst="rect">
            <a:avLst/>
          </a:prstGeom>
          <a:solidFill>
            <a:srgbClr val="376397"/>
          </a:solidFill>
          <a:ln>
            <a:solidFill>
              <a:srgbClr val="376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1453895"/>
            <a:ext cx="5239512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9304E"/>
                </a:solidFill>
                <a:latin typeface="Aptos"/>
              </a:rPr>
              <a:t>What is Jev?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847088"/>
            <a:ext cx="5230368" cy="229909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50000"/>
              </a:lnSpc>
              <a:buChar char="•"/>
              <a:defRPr sz="1400">
                <a:solidFill>
                  <a:srgbClr val="25374E"/>
                </a:solidFill>
                <a:latin typeface="Aptos"/>
              </a:defRPr>
            </a:pPr>
            <a:r>
              <a:rPr dirty="0"/>
              <a:t>Designed to answer structured questions about an input.</a:t>
            </a:r>
          </a:p>
          <a:p>
            <a:pPr>
              <a:lnSpc>
                <a:spcPct val="150000"/>
              </a:lnSpc>
              <a:buChar char="•"/>
              <a:defRPr sz="1400">
                <a:solidFill>
                  <a:srgbClr val="25374E"/>
                </a:solidFill>
                <a:latin typeface="Aptos"/>
              </a:defRPr>
            </a:pPr>
            <a:r>
              <a:rPr dirty="0"/>
              <a:t>System 1 approach: makes direct, intuitive decisions rather than deliberate, step-by-step reasoning.</a:t>
            </a:r>
          </a:p>
          <a:p>
            <a:pPr>
              <a:lnSpc>
                <a:spcPct val="150000"/>
              </a:lnSpc>
              <a:buChar char="•"/>
              <a:defRPr sz="1400">
                <a:solidFill>
                  <a:srgbClr val="25374E"/>
                </a:solidFill>
                <a:latin typeface="Aptos"/>
              </a:defRPr>
            </a:pPr>
            <a:r>
              <a:rPr dirty="0"/>
              <a:t>RLCD (Reinforcement Learning for Calibrated Decisions) trains reliable decisions with confidence scores that reflect accuracy.</a:t>
            </a:r>
          </a:p>
          <a:p>
            <a:pPr>
              <a:lnSpc>
                <a:spcPct val="150000"/>
              </a:lnSpc>
              <a:buChar char="•"/>
              <a:defRPr sz="1400">
                <a:solidFill>
                  <a:srgbClr val="25374E"/>
                </a:solidFill>
                <a:latin typeface="Aptos"/>
              </a:defRPr>
            </a:pPr>
            <a:r>
              <a:rPr dirty="0"/>
              <a:t>Purpose: focuses on specific decisions instead of general-purpose text generation.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353312"/>
            <a:ext cx="4846320" cy="31089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9304E"/>
                </a:solidFill>
                <a:latin typeface="Aptos"/>
              </a:rPr>
              <a:t>Key capabilities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73952" y="1810512"/>
            <a:ext cx="4828032" cy="841248"/>
          </a:xfrm>
          <a:prstGeom prst="roundRect">
            <a:avLst>
              <a:gd name="adj" fmla="val 12000"/>
            </a:avLst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629400" y="1947672"/>
            <a:ext cx="1078992" cy="548640"/>
          </a:xfrm>
          <a:prstGeom prst="roundRect">
            <a:avLst>
              <a:gd name="adj" fmla="val 12000"/>
            </a:avLst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675120" y="2093976"/>
            <a:ext cx="987552" cy="18288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 dirty="0">
                <a:solidFill>
                  <a:srgbClr val="008B91"/>
                </a:solidFill>
                <a:latin typeface="Aptos"/>
              </a:rPr>
              <a:t>CHOICE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1975104"/>
            <a:ext cx="3218688" cy="5120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 dirty="0">
                <a:solidFill>
                  <a:srgbClr val="25374E"/>
                </a:solidFill>
                <a:latin typeface="Aptos"/>
              </a:rPr>
              <a:t>Selects one answer from up to 255 available choices.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73952" y="2834640"/>
            <a:ext cx="4828032" cy="841248"/>
          </a:xfrm>
          <a:prstGeom prst="roundRect">
            <a:avLst>
              <a:gd name="adj" fmla="val 12000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629400" y="2971800"/>
            <a:ext cx="1078992" cy="548640"/>
          </a:xfrm>
          <a:prstGeom prst="roundRect">
            <a:avLst>
              <a:gd name="adj" fmla="val 12000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75120" y="3118104"/>
            <a:ext cx="987552" cy="18288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76397"/>
                </a:solidFill>
                <a:latin typeface="Aptos"/>
              </a:rPr>
              <a:t>SCORE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82127" y="2999232"/>
            <a:ext cx="3218688" cy="5120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5374E"/>
                </a:solidFill>
                <a:latin typeface="Aptos"/>
              </a:rPr>
              <a:t>Evaluates an input against an ordered scoring rubric.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73952" y="3858768"/>
            <a:ext cx="4828032" cy="841248"/>
          </a:xfrm>
          <a:prstGeom prst="roundRect">
            <a:avLst>
              <a:gd name="adj" fmla="val 12000"/>
            </a:avLst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629400" y="3995928"/>
            <a:ext cx="1078992" cy="548640"/>
          </a:xfrm>
          <a:prstGeom prst="roundRect">
            <a:avLst>
              <a:gd name="adj" fmla="val 12000"/>
            </a:avLst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75120" y="4142232"/>
            <a:ext cx="987552" cy="18288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A9E31"/>
                </a:solidFill>
                <a:latin typeface="Aptos"/>
              </a:rPr>
              <a:t>NOUL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82127" y="4023360"/>
            <a:ext cx="3218688" cy="5120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5374E"/>
                </a:solidFill>
                <a:latin typeface="Aptos"/>
              </a:rPr>
              <a:t>Estimates the probability that a Yes/No statement is true.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819571" y="5646719"/>
            <a:ext cx="8357786" cy="658368"/>
          </a:xfrm>
          <a:prstGeom prst="roundRect">
            <a:avLst>
              <a:gd name="adj" fmla="val 12000"/>
            </a:avLst>
          </a:prstGeom>
          <a:solidFill>
            <a:srgbClr val="F5F8FB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rgbClr val="5B7089"/>
                </a:solidFill>
                <a:latin typeface="Aptos"/>
              </a:rPr>
              <a:t>Company-reported benefits: 70–500 </a:t>
            </a:r>
            <a:r>
              <a:rPr lang="en-US" sz="1200" dirty="0" err="1">
                <a:solidFill>
                  <a:srgbClr val="5B7089"/>
                </a:solidFill>
                <a:latin typeface="Aptos"/>
              </a:rPr>
              <a:t>ms</a:t>
            </a:r>
            <a:r>
              <a:rPr lang="en-US" sz="1200" dirty="0">
                <a:solidFill>
                  <a:srgbClr val="5B7089"/>
                </a:solidFill>
                <a:latin typeface="Aptos"/>
              </a:rPr>
              <a:t> speed • $0.042 per million input tokens • type-safe outputs • confidence scores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9184" y="256032"/>
            <a:ext cx="68580" cy="384048"/>
          </a:xfrm>
          <a:prstGeom prst="rect">
            <a:avLst/>
          </a:prstGeom>
          <a:solidFill>
            <a:srgbClr val="008B91"/>
          </a:solidFill>
          <a:ln>
            <a:solidFill>
              <a:srgbClr val="008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182880"/>
            <a:ext cx="11155680" cy="4754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 dirty="0">
                <a:solidFill>
                  <a:srgbClr val="19304E"/>
                </a:solidFill>
                <a:latin typeface="Aptos"/>
              </a:rPr>
              <a:t>Research Objective &amp; Benchmark Datasets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" y="713232"/>
            <a:ext cx="10881360" cy="2011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8B91"/>
                </a:solidFill>
                <a:latin typeface="Aptos"/>
              </a:rPr>
              <a:t>WHAT THE RESEARCHERS SET OUT TO MEASURE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784" y="950976"/>
            <a:ext cx="658368" cy="41148"/>
          </a:xfrm>
          <a:prstGeom prst="rect">
            <a:avLst/>
          </a:prstGeom>
          <a:solidFill>
            <a:srgbClr val="008B91"/>
          </a:solidFill>
          <a:ln>
            <a:solidFill>
              <a:srgbClr val="008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47472" y="6469888"/>
            <a:ext cx="11475720" cy="16459"/>
          </a:xfrm>
          <a:prstGeom prst="rect">
            <a:avLst/>
          </a:prstGeom>
          <a:solidFill>
            <a:srgbClr val="DAE4ED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356848" y="6611112"/>
            <a:ext cx="38404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B7089"/>
                </a:solidFill>
                <a:latin typeface="Aptos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261872"/>
            <a:ext cx="10972800" cy="713232"/>
          </a:xfrm>
          <a:prstGeom prst="roundRect">
            <a:avLst>
              <a:gd name="adj" fmla="val 12000"/>
            </a:avLst>
          </a:prstGeom>
          <a:solidFill>
            <a:srgbClr val="E7F6F5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408176"/>
            <a:ext cx="1572768" cy="2011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8B91"/>
                </a:solidFill>
                <a:latin typeface="Aptos"/>
              </a:rPr>
              <a:t>RESEARCH OBJECTIVE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1362456"/>
            <a:ext cx="8732520" cy="43891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9304E"/>
                </a:solidFill>
                <a:latin typeface="Aptos"/>
              </a:rPr>
              <a:t>Evaluate Jev against general-purpose LLMs across knowledge, reasoning and multilingual tasks.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212848"/>
            <a:ext cx="3493008" cy="3401568"/>
          </a:xfrm>
          <a:prstGeom prst="roundRect">
            <a:avLst>
              <a:gd name="adj" fmla="val 12000"/>
            </a:avLst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2377440"/>
            <a:ext cx="594360" cy="43891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376397"/>
                </a:solidFill>
                <a:latin typeface="Aptos"/>
              </a:rPr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2468880"/>
            <a:ext cx="2240280" cy="21945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B7089"/>
                </a:solidFill>
                <a:latin typeface="Aptos"/>
              </a:rPr>
              <a:t>BENCHMARKS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926080"/>
            <a:ext cx="2971800" cy="94179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 dirty="0" smtClean="0">
                <a:solidFill>
                  <a:srgbClr val="19304E"/>
                </a:solidFill>
                <a:latin typeface="Aptos"/>
              </a:rPr>
              <a:t>KNOWLEDGE</a:t>
            </a:r>
            <a:endParaRPr lang="en-US" sz="1600" b="1" i="0" dirty="0" smtClean="0">
              <a:solidFill>
                <a:srgbClr val="19304E"/>
              </a:solidFill>
              <a:latin typeface="Aptos"/>
            </a:endParaRPr>
          </a:p>
          <a:p>
            <a:r>
              <a:rPr lang="en-US" sz="1400" dirty="0">
                <a:solidFill>
                  <a:srgbClr val="5B7089"/>
                </a:solidFill>
                <a:latin typeface="Aptos"/>
              </a:rPr>
              <a:t>Subject knowledge, factual understanding and common sense.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sz="1600" b="1" i="0" dirty="0">
              <a:solidFill>
                <a:srgbClr val="19304E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960" y="3739903"/>
            <a:ext cx="2944368" cy="176048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buChar char="•"/>
              <a:defRPr sz="1220">
                <a:solidFill>
                  <a:srgbClr val="25374E"/>
                </a:solidFill>
                <a:latin typeface="Aptos"/>
              </a:defRPr>
            </a:pPr>
            <a:r>
              <a:rPr sz="1400" dirty="0"/>
              <a:t>MMLU</a:t>
            </a:r>
          </a:p>
          <a:p>
            <a:pPr>
              <a:buChar char="•"/>
              <a:defRPr sz="1220">
                <a:solidFill>
                  <a:srgbClr val="25374E"/>
                </a:solidFill>
                <a:latin typeface="Aptos"/>
              </a:defRPr>
            </a:pPr>
            <a:r>
              <a:rPr sz="1400" dirty="0"/>
              <a:t>MMLU-</a:t>
            </a:r>
            <a:r>
              <a:rPr sz="1400" dirty="0" err="1"/>
              <a:t>Redux</a:t>
            </a:r>
            <a:endParaRPr sz="1400" dirty="0"/>
          </a:p>
          <a:p>
            <a:pPr>
              <a:buChar char="•"/>
              <a:defRPr sz="1220">
                <a:solidFill>
                  <a:srgbClr val="25374E"/>
                </a:solidFill>
                <a:latin typeface="Aptos"/>
              </a:defRPr>
            </a:pPr>
            <a:r>
              <a:rPr sz="1400" dirty="0"/>
              <a:t>MMLU-Pro</a:t>
            </a:r>
          </a:p>
          <a:p>
            <a:pPr>
              <a:buChar char="•"/>
              <a:defRPr sz="1220">
                <a:solidFill>
                  <a:srgbClr val="25374E"/>
                </a:solidFill>
                <a:latin typeface="Aptos"/>
              </a:defRPr>
            </a:pPr>
            <a:r>
              <a:rPr sz="1400" dirty="0"/>
              <a:t>GPQA Diamond</a:t>
            </a:r>
          </a:p>
          <a:p>
            <a:pPr>
              <a:buChar char="•"/>
              <a:defRPr sz="1220">
                <a:solidFill>
                  <a:srgbClr val="25374E"/>
                </a:solidFill>
                <a:latin typeface="Aptos"/>
              </a:defRPr>
            </a:pPr>
            <a:r>
              <a:rPr sz="1400" dirty="0"/>
              <a:t>C-</a:t>
            </a:r>
            <a:r>
              <a:rPr sz="1400" dirty="0" err="1"/>
              <a:t>Eval</a:t>
            </a:r>
            <a:endParaRPr sz="1400" dirty="0"/>
          </a:p>
          <a:p>
            <a:pPr>
              <a:buChar char="•"/>
              <a:defRPr sz="1220">
                <a:solidFill>
                  <a:srgbClr val="25374E"/>
                </a:solidFill>
                <a:latin typeface="Aptos"/>
              </a:defRPr>
            </a:pPr>
            <a:r>
              <a:rPr sz="1400" dirty="0" err="1"/>
              <a:t>HellaSwag</a:t>
            </a:r>
            <a:endParaRPr sz="1400" dirty="0"/>
          </a:p>
          <a:p>
            <a:pPr>
              <a:buChar char="•"/>
              <a:defRPr sz="1220">
                <a:solidFill>
                  <a:srgbClr val="25374E"/>
                </a:solidFill>
                <a:latin typeface="Aptos"/>
              </a:defRPr>
            </a:pPr>
            <a:r>
              <a:rPr sz="1400" dirty="0" err="1"/>
              <a:t>WinoGrande</a:t>
            </a:r>
            <a:endParaRPr sz="1400" dirty="0"/>
          </a:p>
          <a:p>
            <a:pPr>
              <a:buChar char="•"/>
              <a:defRPr sz="1220">
                <a:solidFill>
                  <a:srgbClr val="25374E"/>
                </a:solidFill>
                <a:latin typeface="Aptos"/>
              </a:defRPr>
            </a:pPr>
            <a:r>
              <a:rPr sz="1400" dirty="0" err="1"/>
              <a:t>TruthfulQA</a:t>
            </a:r>
            <a:endParaRPr sz="1400" dirty="0"/>
          </a:p>
        </p:txBody>
      </p:sp>
      <p:sp>
        <p:nvSpPr>
          <p:cNvPr id="18" name="Rounded Rectangle 17"/>
          <p:cNvSpPr/>
          <p:nvPr/>
        </p:nvSpPr>
        <p:spPr>
          <a:xfrm>
            <a:off x="4325112" y="2212848"/>
            <a:ext cx="3493008" cy="3401568"/>
          </a:xfrm>
          <a:prstGeom prst="roundRect">
            <a:avLst>
              <a:gd name="adj" fmla="val 12000"/>
            </a:avLst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53712" y="2377440"/>
            <a:ext cx="594360" cy="43891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08B91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2468880"/>
            <a:ext cx="2240280" cy="21945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B7089"/>
                </a:solidFill>
                <a:latin typeface="Aptos"/>
              </a:rPr>
              <a:t>BENCHMARKS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3712" y="2926080"/>
            <a:ext cx="2971800" cy="94179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 dirty="0" smtClean="0">
                <a:solidFill>
                  <a:srgbClr val="19304E"/>
                </a:solidFill>
                <a:latin typeface="Aptos"/>
              </a:rPr>
              <a:t>REASONING</a:t>
            </a:r>
            <a:endParaRPr lang="en-US" sz="1600" b="1" i="0" dirty="0" smtClean="0">
              <a:solidFill>
                <a:srgbClr val="19304E"/>
              </a:solidFill>
              <a:latin typeface="Aptos"/>
            </a:endParaRPr>
          </a:p>
          <a:p>
            <a:r>
              <a:rPr lang="en-US" sz="1400" dirty="0">
                <a:solidFill>
                  <a:srgbClr val="5B7089"/>
                </a:solidFill>
                <a:latin typeface="Aptos"/>
              </a:rPr>
              <a:t>Logic, scientific problem-solving and mathematical reasoning.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sz="1600" b="1" i="0" dirty="0">
              <a:solidFill>
                <a:srgbClr val="19304E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526280" y="3867876"/>
            <a:ext cx="2944368" cy="68326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buChar char="•"/>
              <a:defRPr sz="1220">
                <a:solidFill>
                  <a:srgbClr val="25374E"/>
                </a:solidFill>
                <a:latin typeface="Aptos"/>
              </a:defRPr>
            </a:pPr>
            <a:r>
              <a:rPr sz="1400" dirty="0"/>
              <a:t>ARC-Challenge</a:t>
            </a:r>
          </a:p>
          <a:p>
            <a:pPr>
              <a:buChar char="•"/>
              <a:defRPr sz="1220">
                <a:solidFill>
                  <a:srgbClr val="25374E"/>
                </a:solidFill>
                <a:latin typeface="Aptos"/>
              </a:defRPr>
            </a:pPr>
            <a:r>
              <a:rPr sz="1400" dirty="0" err="1"/>
              <a:t>MathQA</a:t>
            </a:r>
            <a:endParaRPr sz="1400" dirty="0"/>
          </a:p>
          <a:p>
            <a:pPr>
              <a:buChar char="•"/>
              <a:defRPr sz="1220">
                <a:solidFill>
                  <a:srgbClr val="25374E"/>
                </a:solidFill>
                <a:latin typeface="Aptos"/>
              </a:defRPr>
            </a:pPr>
            <a:r>
              <a:rPr sz="1400" dirty="0" err="1"/>
              <a:t>AQuA</a:t>
            </a:r>
            <a:r>
              <a:rPr sz="1400" dirty="0"/>
              <a:t>-RAT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55864" y="2212848"/>
            <a:ext cx="3493008" cy="3401568"/>
          </a:xfrm>
          <a:prstGeom prst="roundRect">
            <a:avLst>
              <a:gd name="adj" fmla="val 12000"/>
            </a:avLst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84464" y="2377440"/>
            <a:ext cx="594360" cy="43891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DA9E31"/>
                </a:solidFill>
                <a:latin typeface="Aptos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88552" y="2468880"/>
            <a:ext cx="2240280" cy="21945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B7089"/>
                </a:solidFill>
                <a:latin typeface="Aptos"/>
              </a:rPr>
              <a:t>BENCHMARKS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4464" y="2926080"/>
            <a:ext cx="2971800" cy="94179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 dirty="0" smtClean="0">
                <a:solidFill>
                  <a:srgbClr val="19304E"/>
                </a:solidFill>
                <a:latin typeface="Aptos"/>
              </a:rPr>
              <a:t>MULTILINGUAL</a:t>
            </a:r>
            <a:endParaRPr lang="en-US" sz="1600" b="1" i="0" dirty="0" smtClean="0">
              <a:solidFill>
                <a:srgbClr val="19304E"/>
              </a:solidFill>
              <a:latin typeface="Aptos"/>
            </a:endParaRPr>
          </a:p>
          <a:p>
            <a:r>
              <a:rPr lang="en-US" sz="1400" dirty="0">
                <a:solidFill>
                  <a:srgbClr val="5B7089"/>
                </a:solidFill>
                <a:latin typeface="Aptos"/>
              </a:rPr>
              <a:t>Answering benchmark questions across languages.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sz="1600" b="1" i="0" dirty="0">
              <a:solidFill>
                <a:srgbClr val="19304E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311896" y="3761097"/>
            <a:ext cx="2944368" cy="4678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buChar char="•"/>
              <a:defRPr sz="1220">
                <a:solidFill>
                  <a:srgbClr val="25374E"/>
                </a:solidFill>
                <a:latin typeface="Aptos"/>
              </a:defRPr>
            </a:pPr>
            <a:r>
              <a:rPr sz="1400" dirty="0"/>
              <a:t>MMLU-</a:t>
            </a:r>
            <a:r>
              <a:rPr sz="1400" dirty="0" err="1"/>
              <a:t>ProX</a:t>
            </a:r>
            <a:endParaRPr sz="1400" dirty="0"/>
          </a:p>
          <a:p>
            <a:pPr>
              <a:buChar char="•"/>
              <a:defRPr sz="1220">
                <a:solidFill>
                  <a:srgbClr val="25374E"/>
                </a:solidFill>
                <a:latin typeface="Aptos"/>
              </a:defRPr>
            </a:pPr>
            <a:r>
              <a:rPr sz="1400" dirty="0"/>
              <a:t>MMMLU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5815584"/>
            <a:ext cx="10972800" cy="475488"/>
          </a:xfrm>
          <a:prstGeom prst="roundRect">
            <a:avLst>
              <a:gd name="adj" fmla="val 12000"/>
            </a:avLst>
          </a:prstGeom>
          <a:solidFill>
            <a:srgbClr val="F5F8FB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68096" y="5916168"/>
            <a:ext cx="10625328" cy="23774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9304E"/>
                </a:solidFill>
                <a:latin typeface="Aptos"/>
              </a:rPr>
              <a:t>13 multiple-choice benchmarks in total: 8 knowledge • 3 reasoning • 2 multilingual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9184" y="256032"/>
            <a:ext cx="68580" cy="384048"/>
          </a:xfrm>
          <a:prstGeom prst="rect">
            <a:avLst/>
          </a:prstGeom>
          <a:solidFill>
            <a:srgbClr val="008B91"/>
          </a:solidFill>
          <a:ln>
            <a:solidFill>
              <a:srgbClr val="008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182880"/>
            <a:ext cx="11155680" cy="4754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9304E"/>
                </a:solidFill>
                <a:latin typeface="Aptos"/>
              </a:rPr>
              <a:t>Models &amp; Evaluation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" y="713232"/>
            <a:ext cx="10881360" cy="2011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8B91"/>
                </a:solidFill>
                <a:latin typeface="Aptos"/>
              </a:rPr>
              <a:t>WHO WAS COMPARED, AND HOW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784" y="950976"/>
            <a:ext cx="658368" cy="41148"/>
          </a:xfrm>
          <a:prstGeom prst="rect">
            <a:avLst/>
          </a:prstGeom>
          <a:solidFill>
            <a:srgbClr val="008B91"/>
          </a:solidFill>
          <a:ln>
            <a:solidFill>
              <a:srgbClr val="008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097280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7089"/>
                </a:solidFill>
                <a:latin typeface="Aptos"/>
              </a:rPr>
              <a:t>Jev was compared with 19 general-purpose LLMs across three model tiers.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6490208"/>
            <a:ext cx="11475720" cy="16459"/>
          </a:xfrm>
          <a:prstGeom prst="rect">
            <a:avLst/>
          </a:prstGeom>
          <a:solidFill>
            <a:srgbClr val="DAE4ED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356848" y="6611112"/>
            <a:ext cx="38404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B7089"/>
                </a:solidFill>
                <a:latin typeface="Aptos"/>
              </a:rPr>
              <a:t>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417320"/>
            <a:ext cx="3493008" cy="2542032"/>
          </a:xfrm>
          <a:prstGeom prst="roundRect">
            <a:avLst>
              <a:gd name="adj" fmla="val 12000"/>
            </a:avLst>
          </a:prstGeom>
          <a:solidFill>
            <a:srgbClr val="EBF2FA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1581912"/>
            <a:ext cx="438912" cy="42062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376397"/>
                </a:solidFill>
                <a:latin typeface="Aptos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16736" y="1664208"/>
            <a:ext cx="2523744" cy="2560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9304E"/>
                </a:solidFill>
                <a:latin typeface="Aptos"/>
              </a:rPr>
              <a:t>Frontier Models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2121408"/>
            <a:ext cx="3017520" cy="1645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buChar char="•"/>
              <a:defRPr sz="1140">
                <a:solidFill>
                  <a:srgbClr val="25374E"/>
                </a:solidFill>
                <a:latin typeface="Aptos"/>
              </a:defRPr>
            </a:pPr>
            <a:r>
              <a:t>GPT-5.6 Sol</a:t>
            </a:r>
          </a:p>
          <a:p>
            <a:pPr>
              <a:buChar char="•"/>
              <a:defRPr sz="1140">
                <a:solidFill>
                  <a:srgbClr val="25374E"/>
                </a:solidFill>
                <a:latin typeface="Aptos"/>
              </a:defRPr>
            </a:pPr>
            <a:r>
              <a:t>Claude Opus 5.5</a:t>
            </a:r>
          </a:p>
          <a:p>
            <a:pPr>
              <a:buChar char="•"/>
              <a:defRPr sz="1140">
                <a:solidFill>
                  <a:srgbClr val="25374E"/>
                </a:solidFill>
                <a:latin typeface="Aptos"/>
              </a:defRPr>
            </a:pPr>
            <a:r>
              <a:t>Gemini 3.8 Flash</a:t>
            </a:r>
          </a:p>
          <a:p>
            <a:pPr>
              <a:buChar char="•"/>
              <a:defRPr sz="1140">
                <a:solidFill>
                  <a:srgbClr val="25374E"/>
                </a:solidFill>
                <a:latin typeface="Aptos"/>
              </a:defRPr>
            </a:pPr>
            <a:r>
              <a:t>Qwen3.8-Flash</a:t>
            </a:r>
          </a:p>
          <a:p>
            <a:pPr>
              <a:buChar char="•"/>
              <a:defRPr sz="1140">
                <a:solidFill>
                  <a:srgbClr val="25374E"/>
                </a:solidFill>
                <a:latin typeface="Aptos"/>
              </a:defRPr>
            </a:pPr>
            <a:r>
              <a:t>Qwen3.8-Max</a:t>
            </a:r>
          </a:p>
          <a:p>
            <a:pPr>
              <a:buChar char="•"/>
              <a:defRPr sz="1140">
                <a:solidFill>
                  <a:srgbClr val="25374E"/>
                </a:solidFill>
                <a:latin typeface="Aptos"/>
              </a:defRPr>
            </a:pPr>
            <a:r>
              <a:t>DeepSeek-V4.1-Flash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417320"/>
            <a:ext cx="3493008" cy="2542032"/>
          </a:xfrm>
          <a:prstGeom prst="roundRect">
            <a:avLst>
              <a:gd name="adj" fmla="val 12000"/>
            </a:avLst>
          </a:prstGeom>
          <a:solidFill>
            <a:srgbClr val="E7F6F5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07992" y="1581912"/>
            <a:ext cx="438912" cy="42062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08B91"/>
                </a:solidFill>
                <a:latin typeface="Aptos"/>
              </a:rP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7488" y="1664208"/>
            <a:ext cx="2523744" cy="2560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9304E"/>
                </a:solidFill>
                <a:latin typeface="Aptos"/>
              </a:rPr>
              <a:t>Representative 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121408"/>
            <a:ext cx="3017520" cy="1645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buChar char="•"/>
              <a:defRPr sz="1140">
                <a:solidFill>
                  <a:srgbClr val="25374E"/>
                </a:solidFill>
                <a:latin typeface="Aptos"/>
              </a:defRPr>
            </a:pPr>
            <a:r>
              <a:t>GPT-4o</a:t>
            </a:r>
          </a:p>
          <a:p>
            <a:pPr>
              <a:buChar char="•"/>
              <a:defRPr sz="1140">
                <a:solidFill>
                  <a:srgbClr val="25374E"/>
                </a:solidFill>
                <a:latin typeface="Aptos"/>
              </a:defRPr>
            </a:pPr>
            <a:r>
              <a:t>Claude 3.5 Sonnet</a:t>
            </a:r>
          </a:p>
          <a:p>
            <a:pPr>
              <a:buChar char="•"/>
              <a:defRPr sz="1140">
                <a:solidFill>
                  <a:srgbClr val="25374E"/>
                </a:solidFill>
                <a:latin typeface="Aptos"/>
              </a:defRPr>
            </a:pPr>
            <a:r>
              <a:t>DeepSeek-R1</a:t>
            </a:r>
          </a:p>
          <a:p>
            <a:pPr>
              <a:buChar char="•"/>
              <a:defRPr sz="1140">
                <a:solidFill>
                  <a:srgbClr val="25374E"/>
                </a:solidFill>
                <a:latin typeface="Aptos"/>
              </a:defRPr>
            </a:pPr>
            <a:r>
              <a:t>DeepSeek-V3</a:t>
            </a:r>
          </a:p>
          <a:p>
            <a:pPr>
              <a:buChar char="•"/>
              <a:defRPr sz="1140">
                <a:solidFill>
                  <a:srgbClr val="25374E"/>
                </a:solidFill>
                <a:latin typeface="Aptos"/>
              </a:defRPr>
            </a:pPr>
            <a:r>
              <a:t>Qwen3-32B</a:t>
            </a:r>
          </a:p>
          <a:p>
            <a:pPr>
              <a:buChar char="•"/>
              <a:defRPr sz="1140">
                <a:solidFill>
                  <a:srgbClr val="25374E"/>
                </a:solidFill>
                <a:latin typeface="Aptos"/>
              </a:defRPr>
            </a:pPr>
            <a:r>
              <a:t>Qwen2.5-72B-Instruct</a:t>
            </a:r>
          </a:p>
          <a:p>
            <a:pPr>
              <a:buChar char="•"/>
              <a:defRPr sz="1140">
                <a:solidFill>
                  <a:srgbClr val="25374E"/>
                </a:solidFill>
                <a:latin typeface="Aptos"/>
              </a:defRPr>
            </a:pPr>
            <a:r>
              <a:t>Llama-3.1-405B-Instruct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28431" y="1417320"/>
            <a:ext cx="3493008" cy="2542032"/>
          </a:xfrm>
          <a:prstGeom prst="roundRect">
            <a:avLst>
              <a:gd name="adj" fmla="val 12000"/>
            </a:avLst>
          </a:prstGeom>
          <a:solidFill>
            <a:srgbClr val="EBF2FA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38744" y="1581912"/>
            <a:ext cx="438912" cy="42062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376397"/>
                </a:solidFill>
                <a:latin typeface="Aptos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1664208"/>
            <a:ext cx="2523744" cy="2560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9304E"/>
                </a:solidFill>
                <a:latin typeface="Aptos"/>
              </a:rPr>
              <a:t>Small Models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2121408"/>
            <a:ext cx="3017520" cy="1645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buChar char="•"/>
              <a:defRPr sz="1140">
                <a:solidFill>
                  <a:srgbClr val="25374E"/>
                </a:solidFill>
                <a:latin typeface="Aptos"/>
              </a:defRPr>
            </a:pPr>
            <a:r>
              <a:t>Qwen3-8B</a:t>
            </a:r>
          </a:p>
          <a:p>
            <a:pPr>
              <a:buChar char="•"/>
              <a:defRPr sz="1140">
                <a:solidFill>
                  <a:srgbClr val="25374E"/>
                </a:solidFill>
                <a:latin typeface="Aptos"/>
              </a:defRPr>
            </a:pPr>
            <a:r>
              <a:t>Qwen3-4B</a:t>
            </a:r>
          </a:p>
          <a:p>
            <a:pPr>
              <a:buChar char="•"/>
              <a:defRPr sz="1140">
                <a:solidFill>
                  <a:srgbClr val="25374E"/>
                </a:solidFill>
                <a:latin typeface="Aptos"/>
              </a:defRPr>
            </a:pPr>
            <a:r>
              <a:t>Llama-3.1-8B-Instruct</a:t>
            </a:r>
          </a:p>
          <a:p>
            <a:pPr>
              <a:buChar char="•"/>
              <a:defRPr sz="1140">
                <a:solidFill>
                  <a:srgbClr val="25374E"/>
                </a:solidFill>
                <a:latin typeface="Aptos"/>
              </a:defRPr>
            </a:pPr>
            <a:r>
              <a:t>Phi-4-mini-instruct</a:t>
            </a:r>
          </a:p>
          <a:p>
            <a:pPr>
              <a:buChar char="•"/>
              <a:defRPr sz="1140">
                <a:solidFill>
                  <a:srgbClr val="25374E"/>
                </a:solidFill>
                <a:latin typeface="Aptos"/>
              </a:defRPr>
            </a:pPr>
            <a:r>
              <a:t>Gemma-3-4B-IT</a:t>
            </a:r>
          </a:p>
          <a:p>
            <a:pPr>
              <a:buChar char="•"/>
              <a:defRPr sz="1140">
                <a:solidFill>
                  <a:srgbClr val="25374E"/>
                </a:solidFill>
                <a:latin typeface="Aptos"/>
              </a:defRPr>
            </a:pPr>
            <a:r>
              <a:t>Mistral-7B-v0.3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160520"/>
            <a:ext cx="2743200" cy="23774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8B91"/>
                </a:solidFill>
                <a:latin typeface="Aptos"/>
              </a:rPr>
              <a:t>EVALUATION METHOD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480560"/>
            <a:ext cx="2523744" cy="1078992"/>
          </a:xfrm>
          <a:prstGeom prst="roundRect">
            <a:avLst>
              <a:gd name="adj" fmla="val 12000"/>
            </a:avLst>
          </a:prstGeom>
          <a:solidFill>
            <a:srgbClr val="EBF2FA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76656" y="4608576"/>
            <a:ext cx="329184" cy="329184"/>
          </a:xfrm>
          <a:prstGeom prst="roundRect">
            <a:avLst>
              <a:gd name="adj" fmla="val 12000"/>
            </a:avLst>
          </a:prstGeom>
          <a:solidFill>
            <a:srgbClr val="376397"/>
          </a:solidFill>
          <a:ln>
            <a:solidFill>
              <a:srgbClr val="376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6656" y="4672584"/>
            <a:ext cx="32918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599432"/>
            <a:ext cx="1847088" cy="29260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9304E"/>
                </a:solidFill>
                <a:latin typeface="Aptos"/>
              </a:rPr>
              <a:t>Benchmark question
+ answer options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4992624"/>
            <a:ext cx="2221992" cy="42062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5374E"/>
                </a:solidFill>
                <a:latin typeface="Aptos"/>
              </a:rPr>
              <a:t>Jev receives a Choice request.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08960" y="4965192"/>
            <a:ext cx="237744" cy="32004"/>
          </a:xfrm>
          <a:prstGeom prst="rect">
            <a:avLst/>
          </a:prstGeom>
          <a:solidFill>
            <a:srgbClr val="008B91"/>
          </a:solidFill>
          <a:ln>
            <a:solidFill>
              <a:srgbClr val="008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3383280" y="4480560"/>
            <a:ext cx="2523744" cy="1078992"/>
          </a:xfrm>
          <a:prstGeom prst="roundRect">
            <a:avLst>
              <a:gd name="adj" fmla="val 12000"/>
            </a:avLst>
          </a:prstGeom>
          <a:solidFill>
            <a:srgbClr val="E7F6F5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3493008" y="4608576"/>
            <a:ext cx="329184" cy="329184"/>
          </a:xfrm>
          <a:prstGeom prst="roundRect">
            <a:avLst>
              <a:gd name="adj" fmla="val 12000"/>
            </a:avLst>
          </a:prstGeom>
          <a:solidFill>
            <a:srgbClr val="008B91"/>
          </a:solidFill>
          <a:ln>
            <a:solidFill>
              <a:srgbClr val="008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493008" y="4672584"/>
            <a:ext cx="32918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13632" y="4599432"/>
            <a:ext cx="1847088" cy="29260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9304E"/>
                </a:solidFill>
                <a:latin typeface="Aptos"/>
              </a:rPr>
              <a:t>Select an answer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9584" y="4992624"/>
            <a:ext cx="2221992" cy="42062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5374E"/>
                </a:solidFill>
                <a:latin typeface="Aptos"/>
              </a:rPr>
              <a:t>Jev chooses the option it considers most suitable.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25312" y="4965192"/>
            <a:ext cx="237744" cy="32004"/>
          </a:xfrm>
          <a:prstGeom prst="rect">
            <a:avLst/>
          </a:prstGeom>
          <a:solidFill>
            <a:srgbClr val="008B91"/>
          </a:solidFill>
          <a:ln>
            <a:solidFill>
              <a:srgbClr val="008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6199632" y="4480560"/>
            <a:ext cx="2523744" cy="1078992"/>
          </a:xfrm>
          <a:prstGeom prst="roundRect">
            <a:avLst>
              <a:gd name="adj" fmla="val 12000"/>
            </a:avLst>
          </a:prstGeom>
          <a:solidFill>
            <a:srgbClr val="FBF6E9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6309360" y="4608576"/>
            <a:ext cx="329184" cy="329184"/>
          </a:xfrm>
          <a:prstGeom prst="roundRect">
            <a:avLst>
              <a:gd name="adj" fmla="val 12000"/>
            </a:avLst>
          </a:prstGeom>
          <a:solidFill>
            <a:srgbClr val="DA9E31"/>
          </a:solidFill>
          <a:ln>
            <a:solidFill>
              <a:srgbClr val="DA9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09360" y="4672584"/>
            <a:ext cx="32918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9984" y="4599432"/>
            <a:ext cx="1847088" cy="29260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9304E"/>
                </a:solidFill>
                <a:latin typeface="Aptos"/>
              </a:rPr>
              <a:t>Compare with key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45936" y="4992624"/>
            <a:ext cx="2221992" cy="42062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5374E"/>
                </a:solidFill>
                <a:latin typeface="Aptos"/>
              </a:rPr>
              <a:t>Check whether the selected answer is correct.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741664" y="4965192"/>
            <a:ext cx="237744" cy="32004"/>
          </a:xfrm>
          <a:prstGeom prst="rect">
            <a:avLst/>
          </a:prstGeom>
          <a:solidFill>
            <a:srgbClr val="008B91"/>
          </a:solidFill>
          <a:ln>
            <a:solidFill>
              <a:srgbClr val="008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9015984" y="4480560"/>
            <a:ext cx="2523744" cy="1078992"/>
          </a:xfrm>
          <a:prstGeom prst="roundRect">
            <a:avLst>
              <a:gd name="adj" fmla="val 12000"/>
            </a:avLst>
          </a:prstGeom>
          <a:solidFill>
            <a:srgbClr val="EBF6F0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9125711" y="4608576"/>
            <a:ext cx="329184" cy="329184"/>
          </a:xfrm>
          <a:prstGeom prst="roundRect">
            <a:avLst>
              <a:gd name="adj" fmla="val 12000"/>
            </a:avLst>
          </a:prstGeom>
          <a:solidFill>
            <a:srgbClr val="318468"/>
          </a:solidFill>
          <a:ln>
            <a:solidFill>
              <a:srgbClr val="3184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125711" y="4672584"/>
            <a:ext cx="32918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46336" y="4599432"/>
            <a:ext cx="1847088" cy="29260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9304E"/>
                </a:solidFill>
                <a:latin typeface="Aptos"/>
              </a:rPr>
              <a:t>Calculate accuracy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62288" y="4992624"/>
            <a:ext cx="2221992" cy="42062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5374E"/>
                </a:solidFill>
                <a:latin typeface="Aptos"/>
              </a:rPr>
              <a:t>Correct answers ÷ total questions × 100%.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03504" y="5742432"/>
            <a:ext cx="10972800" cy="603504"/>
          </a:xfrm>
          <a:prstGeom prst="roundRect">
            <a:avLst>
              <a:gd name="adj" fmla="val 12000"/>
            </a:avLst>
          </a:prstGeom>
          <a:solidFill>
            <a:srgbClr val="F5F8FB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68096" y="5824728"/>
            <a:ext cx="10625328" cy="42062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5B7089"/>
                </a:solidFill>
                <a:latin typeface="Aptos"/>
              </a:rPr>
              <a:t>Evaluation notes: Jev and frontier models were run once. Representative/small-model scores combine published results and author evaluations. Frontier median is the reference (3 models for GPQA Diamond); differing prompts/settings make some comparisons approximate.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9184" y="256032"/>
            <a:ext cx="68580" cy="384048"/>
          </a:xfrm>
          <a:prstGeom prst="rect">
            <a:avLst/>
          </a:prstGeom>
          <a:solidFill>
            <a:srgbClr val="008B91"/>
          </a:solidFill>
          <a:ln>
            <a:solidFill>
              <a:srgbClr val="008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182880"/>
            <a:ext cx="11155680" cy="4754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9304E"/>
                </a:solidFill>
                <a:latin typeface="Aptos"/>
              </a:rPr>
              <a:t>Overall Results: How Does Jev Compare?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" y="713232"/>
            <a:ext cx="10881360" cy="2011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8B91"/>
                </a:solidFill>
                <a:latin typeface="Aptos"/>
              </a:rPr>
              <a:t>A SNAPSHOT OF THE BENCHMARK FINDINGS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784" y="950976"/>
            <a:ext cx="658368" cy="41148"/>
          </a:xfrm>
          <a:prstGeom prst="rect">
            <a:avLst/>
          </a:prstGeom>
          <a:solidFill>
            <a:srgbClr val="008B91"/>
          </a:solidFill>
          <a:ln>
            <a:solidFill>
              <a:srgbClr val="008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097280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7089"/>
                </a:solidFill>
                <a:latin typeface="Aptos"/>
              </a:rPr>
              <a:t>The results show a mix of clear strengths and task-specific limitations.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6439408"/>
            <a:ext cx="11475720" cy="16459"/>
          </a:xfrm>
          <a:prstGeom prst="rect">
            <a:avLst/>
          </a:prstGeom>
          <a:solidFill>
            <a:srgbClr val="DAE4ED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356848" y="6611112"/>
            <a:ext cx="38404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B7089"/>
                </a:solidFill>
                <a:latin typeface="Aptos"/>
              </a:rPr>
              <a:t>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536192"/>
            <a:ext cx="3584448" cy="3456432"/>
          </a:xfrm>
          <a:prstGeom prst="roundRect">
            <a:avLst>
              <a:gd name="adj" fmla="val 12000"/>
            </a:avLst>
          </a:prstGeom>
          <a:solidFill>
            <a:srgbClr val="EBF6F0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1682495"/>
            <a:ext cx="50292" cy="3163824"/>
          </a:xfrm>
          <a:prstGeom prst="rect">
            <a:avLst/>
          </a:prstGeom>
          <a:solidFill>
            <a:srgbClr val="318468"/>
          </a:solidFill>
          <a:ln>
            <a:solidFill>
              <a:srgbClr val="3184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1691639"/>
            <a:ext cx="320040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9304E"/>
                </a:solidFill>
                <a:latin typeface="Aptos"/>
              </a:rPr>
              <a:t>Strong 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084831"/>
            <a:ext cx="3191256" cy="176048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buChar char="•"/>
              <a:defRPr sz="1300">
                <a:solidFill>
                  <a:srgbClr val="25374E"/>
                </a:solidFill>
                <a:latin typeface="Aptos"/>
              </a:defRPr>
            </a:pPr>
            <a:r>
              <a:rPr sz="1600" dirty="0"/>
              <a:t>Best score among evaluated models on MMLU-</a:t>
            </a:r>
            <a:r>
              <a:rPr sz="1600" dirty="0" err="1"/>
              <a:t>Redux</a:t>
            </a:r>
            <a:r>
              <a:rPr sz="1600" dirty="0"/>
              <a:t> (95.0%).</a:t>
            </a:r>
          </a:p>
          <a:p>
            <a:pPr>
              <a:buChar char="•"/>
              <a:defRPr sz="1300">
                <a:solidFill>
                  <a:srgbClr val="25374E"/>
                </a:solidFill>
                <a:latin typeface="Aptos"/>
              </a:defRPr>
            </a:pPr>
            <a:r>
              <a:rPr sz="1600" dirty="0"/>
              <a:t>Best score on ARC-Challenge (97.6%).</a:t>
            </a:r>
          </a:p>
          <a:p>
            <a:pPr>
              <a:buChar char="•"/>
              <a:defRPr sz="1300">
                <a:solidFill>
                  <a:srgbClr val="25374E"/>
                </a:solidFill>
                <a:latin typeface="Aptos"/>
              </a:defRPr>
            </a:pPr>
            <a:r>
              <a:rPr sz="1600" dirty="0"/>
              <a:t>Competitive on several knowledge and commonsense benchmarks.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536192"/>
            <a:ext cx="3584448" cy="3456432"/>
          </a:xfrm>
          <a:prstGeom prst="roundRect">
            <a:avLst>
              <a:gd name="adj" fmla="val 12000"/>
            </a:avLst>
          </a:prstGeom>
          <a:solidFill>
            <a:srgbClr val="FAEEEF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416552" y="1682495"/>
            <a:ext cx="50292" cy="3163824"/>
          </a:xfrm>
          <a:prstGeom prst="rect">
            <a:avLst/>
          </a:prstGeom>
          <a:solidFill>
            <a:srgbClr val="BE5558"/>
          </a:solidFill>
          <a:ln>
            <a:solidFill>
              <a:srgbClr val="BE5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53712" y="1691639"/>
            <a:ext cx="320040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9304E"/>
                </a:solidFill>
                <a:latin typeface="Aptos"/>
              </a:rPr>
              <a:t>Mathematical limitation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712" y="2084831"/>
            <a:ext cx="3191256" cy="151426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buChar char="•"/>
              <a:defRPr sz="1300">
                <a:solidFill>
                  <a:srgbClr val="25374E"/>
                </a:solidFill>
                <a:latin typeface="Aptos"/>
              </a:defRPr>
            </a:pPr>
            <a:r>
              <a:rPr sz="1600" dirty="0"/>
              <a:t>Fell behind frontier LLMs on </a:t>
            </a:r>
            <a:r>
              <a:rPr sz="1600" dirty="0" err="1"/>
              <a:t>MathQA</a:t>
            </a:r>
            <a:r>
              <a:rPr sz="1600" dirty="0"/>
              <a:t> and </a:t>
            </a:r>
            <a:r>
              <a:rPr sz="1600" dirty="0" err="1"/>
              <a:t>AQuA</a:t>
            </a:r>
            <a:r>
              <a:rPr sz="1600" dirty="0"/>
              <a:t>-RAT.</a:t>
            </a:r>
          </a:p>
          <a:p>
            <a:pPr>
              <a:buChar char="•"/>
              <a:defRPr sz="1300">
                <a:solidFill>
                  <a:srgbClr val="25374E"/>
                </a:solidFill>
                <a:latin typeface="Aptos"/>
              </a:defRPr>
            </a:pPr>
            <a:r>
              <a:rPr sz="1600" dirty="0"/>
              <a:t>Scored 75.0% on </a:t>
            </a:r>
            <a:r>
              <a:rPr sz="1600" dirty="0" err="1"/>
              <a:t>MathQA</a:t>
            </a:r>
            <a:r>
              <a:rPr sz="1600" dirty="0"/>
              <a:t>—17.7 points below the frontier median.</a:t>
            </a:r>
          </a:p>
          <a:p>
            <a:pPr>
              <a:buChar char="•"/>
              <a:defRPr sz="1300">
                <a:solidFill>
                  <a:srgbClr val="25374E"/>
                </a:solidFill>
                <a:latin typeface="Aptos"/>
              </a:defRPr>
            </a:pPr>
            <a:r>
              <a:rPr sz="1600" dirty="0"/>
              <a:t>Scored below all 19 general-purpose LLMs on </a:t>
            </a:r>
            <a:r>
              <a:rPr sz="1600" dirty="0" err="1"/>
              <a:t>MathQA</a:t>
            </a:r>
            <a:r>
              <a:rPr sz="1600" dirty="0"/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28431" y="1536192"/>
            <a:ext cx="3584448" cy="3456432"/>
          </a:xfrm>
          <a:prstGeom prst="roundRect">
            <a:avLst>
              <a:gd name="adj" fmla="val 12000"/>
            </a:avLst>
          </a:prstGeom>
          <a:solidFill>
            <a:srgbClr val="EBF2FA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47304" y="1682495"/>
            <a:ext cx="50292" cy="3163824"/>
          </a:xfrm>
          <a:prstGeom prst="rect">
            <a:avLst/>
          </a:prstGeom>
          <a:solidFill>
            <a:srgbClr val="376397"/>
          </a:solidFill>
          <a:ln>
            <a:solidFill>
              <a:srgbClr val="376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84463" y="1691639"/>
            <a:ext cx="320040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9304E"/>
                </a:solidFill>
                <a:latin typeface="Aptos"/>
              </a:rPr>
              <a:t>Multilingual performance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4463" y="2084831"/>
            <a:ext cx="3191256" cy="151426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buChar char="•"/>
              <a:defRPr sz="1300">
                <a:solidFill>
                  <a:srgbClr val="25374E"/>
                </a:solidFill>
                <a:latin typeface="Aptos"/>
              </a:defRPr>
            </a:pPr>
            <a:r>
              <a:rPr sz="1600" dirty="0"/>
              <a:t>Scored 83.2% on MMLU-</a:t>
            </a:r>
            <a:r>
              <a:rPr sz="1600" dirty="0" err="1"/>
              <a:t>ProX</a:t>
            </a:r>
            <a:r>
              <a:rPr sz="1600" dirty="0"/>
              <a:t> and 85.0% on MMMLU.</a:t>
            </a:r>
          </a:p>
          <a:p>
            <a:pPr>
              <a:buChar char="•"/>
              <a:defRPr sz="1300">
                <a:solidFill>
                  <a:srgbClr val="25374E"/>
                </a:solidFill>
                <a:latin typeface="Aptos"/>
              </a:defRPr>
            </a:pPr>
            <a:r>
              <a:rPr sz="1600" dirty="0"/>
              <a:t>Performed reasonably well on translated questions.</a:t>
            </a:r>
          </a:p>
          <a:p>
            <a:pPr>
              <a:buChar char="•"/>
              <a:defRPr sz="1300">
                <a:solidFill>
                  <a:srgbClr val="25374E"/>
                </a:solidFill>
                <a:latin typeface="Aptos"/>
              </a:defRPr>
            </a:pPr>
            <a:r>
              <a:rPr sz="1600" dirty="0"/>
              <a:t>Had more difficulty with C-</a:t>
            </a:r>
            <a:r>
              <a:rPr sz="1600" dirty="0" err="1"/>
              <a:t>Eval's</a:t>
            </a:r>
            <a:r>
              <a:rPr sz="1600" dirty="0"/>
              <a:t> Chinese exam-specific knowledge.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5321808"/>
            <a:ext cx="10680192" cy="786384"/>
          </a:xfrm>
          <a:prstGeom prst="roundRect">
            <a:avLst>
              <a:gd name="adj" fmla="val 12000"/>
            </a:avLst>
          </a:prstGeom>
          <a:solidFill>
            <a:srgbClr val="F5F8FB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87552" y="5458968"/>
            <a:ext cx="1325880" cy="21945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8B91"/>
                </a:solidFill>
                <a:latin typeface="Aptos"/>
              </a:rPr>
              <a:t>KEY TAKEAWAY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95728" y="5422392"/>
            <a:ext cx="8641080" cy="4754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9304E"/>
                </a:solidFill>
                <a:latin typeface="Aptos"/>
              </a:rPr>
              <a:t>Jev performs strongly on several knowledge and commonsense tasks, but mathematical problem-solving remains a major limitation.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9184" y="256032"/>
            <a:ext cx="68580" cy="384048"/>
          </a:xfrm>
          <a:prstGeom prst="rect">
            <a:avLst/>
          </a:prstGeom>
          <a:solidFill>
            <a:srgbClr val="008B91"/>
          </a:solidFill>
          <a:ln>
            <a:solidFill>
              <a:srgbClr val="008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182880"/>
            <a:ext cx="11155680" cy="4754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9304E"/>
                </a:solidFill>
                <a:latin typeface="Aptos"/>
              </a:rPr>
              <a:t>Knowledge vs. Mathematical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" y="713232"/>
            <a:ext cx="10881360" cy="2011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8B91"/>
                </a:solidFill>
                <a:latin typeface="Aptos"/>
              </a:rPr>
              <a:t>WHERE JEV EXCELS—AND WHERE IT STRUGGLES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784" y="950976"/>
            <a:ext cx="658368" cy="41148"/>
          </a:xfrm>
          <a:prstGeom prst="rect">
            <a:avLst/>
          </a:prstGeom>
          <a:solidFill>
            <a:srgbClr val="008B91"/>
          </a:solidFill>
          <a:ln>
            <a:solidFill>
              <a:srgbClr val="008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47472" y="6451600"/>
            <a:ext cx="11475720" cy="16459"/>
          </a:xfrm>
          <a:prstGeom prst="rect">
            <a:avLst/>
          </a:prstGeom>
          <a:solidFill>
            <a:srgbClr val="DAE4ED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356848" y="6611112"/>
            <a:ext cx="38404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B7089"/>
                </a:solidFill>
                <a:latin typeface="Aptos"/>
              </a:rP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325880"/>
            <a:ext cx="5376672" cy="3017520"/>
          </a:xfrm>
          <a:prstGeom prst="roundRect">
            <a:avLst>
              <a:gd name="adj" fmla="val 12000"/>
            </a:avLst>
          </a:prstGeom>
          <a:solidFill>
            <a:srgbClr val="EBF2FA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1472184"/>
            <a:ext cx="50292" cy="2724912"/>
          </a:xfrm>
          <a:prstGeom prst="rect">
            <a:avLst/>
          </a:prstGeom>
          <a:solidFill>
            <a:srgbClr val="376397"/>
          </a:solidFill>
          <a:ln>
            <a:solidFill>
              <a:srgbClr val="376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1481328"/>
            <a:ext cx="4992624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9304E"/>
                </a:solidFill>
                <a:latin typeface="Aptos"/>
              </a:rPr>
              <a:t>Knowledge-based tasks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874519"/>
            <a:ext cx="4983480" cy="235915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buChar char="•"/>
              <a:defRPr sz="1400">
                <a:solidFill>
                  <a:srgbClr val="25374E"/>
                </a:solidFill>
                <a:latin typeface="Aptos"/>
              </a:defRPr>
            </a:pPr>
            <a:r>
              <a:t>Top results: best score on MMLU-Redux and ARC-Challenge.</a:t>
            </a:r>
          </a:p>
          <a:p>
            <a:pPr>
              <a:buChar char="•"/>
              <a:defRPr sz="1400">
                <a:solidFill>
                  <a:srgbClr val="25374E"/>
                </a:solidFill>
                <a:latin typeface="Aptos"/>
              </a:defRPr>
            </a:pPr>
            <a:r>
              <a:t>Competitive: performed well on MMLU, WinoGrande and TruthfulQA.</a:t>
            </a:r>
          </a:p>
          <a:p>
            <a:pPr>
              <a:buChar char="•"/>
              <a:defRPr sz="1400">
                <a:solidFill>
                  <a:srgbClr val="25374E"/>
                </a:solidFill>
                <a:latin typeface="Aptos"/>
              </a:defRPr>
            </a:pPr>
            <a:r>
              <a:t>Small models: outperformed all small LLMs on non-mathematical comparisons.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1325880"/>
            <a:ext cx="5376672" cy="3017520"/>
          </a:xfrm>
          <a:prstGeom prst="roundRect">
            <a:avLst>
              <a:gd name="adj" fmla="val 12000"/>
            </a:avLst>
          </a:prstGeom>
          <a:solidFill>
            <a:srgbClr val="FAEEEF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55080" y="1472184"/>
            <a:ext cx="50292" cy="2724912"/>
          </a:xfrm>
          <a:prstGeom prst="rect">
            <a:avLst/>
          </a:prstGeom>
          <a:solidFill>
            <a:srgbClr val="BE5558"/>
          </a:solidFill>
          <a:ln>
            <a:solidFill>
              <a:srgbClr val="BE5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1481328"/>
            <a:ext cx="4992624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9304E"/>
                </a:solidFill>
                <a:latin typeface="Aptos"/>
              </a:rPr>
              <a:t>Mathematical tasks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874519"/>
            <a:ext cx="4983480" cy="235915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buChar char="•"/>
              <a:defRPr sz="1400">
                <a:solidFill>
                  <a:srgbClr val="25374E"/>
                </a:solidFill>
                <a:latin typeface="Aptos"/>
              </a:defRPr>
            </a:pPr>
            <a:r>
              <a:t>Multi-step problems: struggled with mathematical word problems.</a:t>
            </a:r>
          </a:p>
          <a:p>
            <a:pPr>
              <a:buChar char="•"/>
              <a:defRPr sz="1400">
                <a:solidFill>
                  <a:srgbClr val="25374E"/>
                </a:solidFill>
                <a:latin typeface="Aptos"/>
              </a:defRPr>
            </a:pPr>
            <a:r>
              <a:t>MathQA: 75.0%, below all 19 general-purpose LLMs.</a:t>
            </a:r>
          </a:p>
          <a:p>
            <a:pPr>
              <a:buChar char="•"/>
              <a:defRPr sz="1400">
                <a:solidFill>
                  <a:srgbClr val="25374E"/>
                </a:solidFill>
                <a:latin typeface="Aptos"/>
              </a:defRPr>
            </a:pPr>
            <a:r>
              <a:t>AQuA-RAT: scored below all six frontier models.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553712"/>
            <a:ext cx="10680192" cy="786384"/>
          </a:xfrm>
          <a:prstGeom prst="roundRect">
            <a:avLst>
              <a:gd name="adj" fmla="val 12000"/>
            </a:avLst>
          </a:prstGeom>
          <a:solidFill>
            <a:srgbClr val="F5F8FB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2688" y="4681728"/>
            <a:ext cx="1691640" cy="2011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8B91"/>
                </a:solidFill>
                <a:latin typeface="Aptos"/>
              </a:rPr>
              <a:t>MATHQA COMPARISON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4645152"/>
            <a:ext cx="1078992" cy="34747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BE5558"/>
                </a:solidFill>
                <a:latin typeface="Aptos"/>
              </a:rPr>
              <a:t>75.0%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50208" y="4709160"/>
            <a:ext cx="1024128" cy="2011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B7089"/>
                </a:solidFill>
                <a:latin typeface="Aptos"/>
              </a:rPr>
              <a:t>Jev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70448" y="4645152"/>
            <a:ext cx="1078992" cy="34747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376397"/>
                </a:solidFill>
                <a:latin typeface="Aptos"/>
              </a:rPr>
              <a:t>92.7%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67728" y="4709160"/>
            <a:ext cx="1828800" cy="2011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B7089"/>
                </a:solidFill>
                <a:latin typeface="Aptos"/>
              </a:rPr>
              <a:t>Frontier median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08592" y="4681728"/>
            <a:ext cx="1828800" cy="438912"/>
          </a:xfrm>
          <a:prstGeom prst="roundRect">
            <a:avLst>
              <a:gd name="adj" fmla="val 12000"/>
            </a:avLst>
          </a:prstGeom>
          <a:solidFill>
            <a:srgbClr val="FBF6E9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72600" y="4791456"/>
            <a:ext cx="17007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DA9E31"/>
                </a:solidFill>
                <a:latin typeface="Aptos"/>
              </a:rPr>
              <a:t>−17.7 percentage points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5559552"/>
            <a:ext cx="10680192" cy="621792"/>
          </a:xfrm>
          <a:prstGeom prst="roundRect">
            <a:avLst>
              <a:gd name="adj" fmla="val 12000"/>
            </a:avLst>
          </a:prstGeom>
          <a:solidFill>
            <a:srgbClr val="FBF6E9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0120" y="5650992"/>
            <a:ext cx="1600200" cy="2011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DA9E31"/>
                </a:solidFill>
                <a:latin typeface="Aptos"/>
              </a:rPr>
              <a:t>POSSIBLE EXPLANATION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33472" y="5623560"/>
            <a:ext cx="8503920" cy="38404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5374E"/>
                </a:solidFill>
                <a:latin typeface="Aptos"/>
              </a:rPr>
              <a:t>Knowledge questions may involve identifying an option; math word problems require several calculation steps. The authors suggest this may challenge Jev's direct-selection approach.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9184" y="256032"/>
            <a:ext cx="68580" cy="384048"/>
          </a:xfrm>
          <a:prstGeom prst="rect">
            <a:avLst/>
          </a:prstGeom>
          <a:solidFill>
            <a:srgbClr val="008B91"/>
          </a:solidFill>
          <a:ln>
            <a:solidFill>
              <a:srgbClr val="008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182880"/>
            <a:ext cx="11155680" cy="4754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9304E"/>
                </a:solidFill>
                <a:latin typeface="Aptos"/>
              </a:rPr>
              <a:t>Reasoning Demands: How Does Task Complexity Affect Jev?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" y="713232"/>
            <a:ext cx="10881360" cy="2011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8B91"/>
                </a:solidFill>
                <a:latin typeface="Aptos"/>
              </a:rPr>
              <a:t>PERFORMANCE DIFFERENCES ACROSS TASKS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784" y="950976"/>
            <a:ext cx="658368" cy="41148"/>
          </a:xfrm>
          <a:prstGeom prst="rect">
            <a:avLst/>
          </a:prstGeom>
          <a:solidFill>
            <a:srgbClr val="008B91"/>
          </a:solidFill>
          <a:ln>
            <a:solidFill>
              <a:srgbClr val="008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47472" y="6480048"/>
            <a:ext cx="11475720" cy="16459"/>
          </a:xfrm>
          <a:prstGeom prst="rect">
            <a:avLst/>
          </a:prstGeom>
          <a:solidFill>
            <a:srgbClr val="DAE4ED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356848" y="6611112"/>
            <a:ext cx="38404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B7089"/>
                </a:solidFill>
                <a:latin typeface="Aptos"/>
              </a:rP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234440"/>
            <a:ext cx="11045952" cy="548640"/>
          </a:xfrm>
          <a:prstGeom prst="roundRect">
            <a:avLst>
              <a:gd name="adj" fmla="val 12000"/>
            </a:avLst>
          </a:prstGeom>
          <a:solidFill>
            <a:srgbClr val="E7F6F5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" y="1353312"/>
            <a:ext cx="10561320" cy="27432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9304E"/>
                </a:solidFill>
                <a:latin typeface="Aptos"/>
              </a:rPr>
              <a:t>The study suggests Jev's performance gap generally increases as tasks demand more complex reasoning.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938528"/>
            <a:ext cx="5212080" cy="3584448"/>
          </a:xfrm>
          <a:prstGeom prst="roundRect">
            <a:avLst>
              <a:gd name="adj" fmla="val 12000"/>
            </a:avLst>
          </a:prstGeom>
          <a:solidFill>
            <a:srgbClr val="EBF2FA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2139696"/>
            <a:ext cx="4663440" cy="32004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9304E"/>
                </a:solidFill>
                <a:latin typeface="Aptos"/>
              </a:rPr>
              <a:t>Jev's gap from the frontier median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2670048"/>
            <a:ext cx="1371600" cy="21945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25374E"/>
                </a:solidFill>
                <a:latin typeface="Aptos"/>
              </a:rPr>
              <a:t>MMLU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67712" y="2688336"/>
            <a:ext cx="2377440" cy="164592"/>
          </a:xfrm>
          <a:prstGeom prst="roundRect">
            <a:avLst>
              <a:gd name="adj" fmla="val 12000"/>
            </a:avLst>
          </a:prstGeom>
          <a:solidFill>
            <a:srgbClr val="DCE4E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267712" y="2688336"/>
            <a:ext cx="161182" cy="164592"/>
          </a:xfrm>
          <a:prstGeom prst="roundRect">
            <a:avLst>
              <a:gd name="adj" fmla="val 12000"/>
            </a:avLst>
          </a:prstGeom>
          <a:solidFill>
            <a:srgbClr val="008B91"/>
          </a:solidFill>
          <a:ln>
            <a:solidFill>
              <a:srgbClr val="008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09160" y="2651760"/>
            <a:ext cx="841248" cy="22860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9304E"/>
                </a:solidFill>
                <a:latin typeface="Aptos"/>
              </a:rPr>
              <a:t>−1.2 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3182112"/>
            <a:ext cx="1371600" cy="21945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25374E"/>
                </a:solidFill>
                <a:latin typeface="Aptos"/>
              </a:rPr>
              <a:t>MMLU-Pro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67712" y="3200400"/>
            <a:ext cx="2377440" cy="164592"/>
          </a:xfrm>
          <a:prstGeom prst="roundRect">
            <a:avLst>
              <a:gd name="adj" fmla="val 12000"/>
            </a:avLst>
          </a:prstGeom>
          <a:solidFill>
            <a:srgbClr val="DCE4E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2267712" y="3200400"/>
            <a:ext cx="779048" cy="164592"/>
          </a:xfrm>
          <a:prstGeom prst="roundRect">
            <a:avLst>
              <a:gd name="adj" fmla="val 12000"/>
            </a:avLst>
          </a:prstGeom>
          <a:solidFill>
            <a:srgbClr val="008B91"/>
          </a:solidFill>
          <a:ln>
            <a:solidFill>
              <a:srgbClr val="008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09160" y="3163824"/>
            <a:ext cx="841248" cy="22860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9304E"/>
                </a:solidFill>
                <a:latin typeface="Aptos"/>
              </a:rPr>
              <a:t>−5.8 pp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3694176"/>
            <a:ext cx="1371600" cy="21945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25374E"/>
                </a:solidFill>
                <a:latin typeface="Aptos"/>
              </a:rPr>
              <a:t>GPQA Diamond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267712" y="3712463"/>
            <a:ext cx="2377440" cy="164592"/>
          </a:xfrm>
          <a:prstGeom prst="roundRect">
            <a:avLst>
              <a:gd name="adj" fmla="val 12000"/>
            </a:avLst>
          </a:prstGeom>
          <a:solidFill>
            <a:srgbClr val="DCE4E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2267712" y="3712463"/>
            <a:ext cx="1195435" cy="164592"/>
          </a:xfrm>
          <a:prstGeom prst="roundRect">
            <a:avLst>
              <a:gd name="adj" fmla="val 12000"/>
            </a:avLst>
          </a:prstGeom>
          <a:solidFill>
            <a:srgbClr val="DA9E31"/>
          </a:solidFill>
          <a:ln>
            <a:solidFill>
              <a:srgbClr val="DA9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09160" y="3675888"/>
            <a:ext cx="841248" cy="22860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9304E"/>
                </a:solidFill>
                <a:latin typeface="Aptos"/>
              </a:rPr>
              <a:t>−8.9 pp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4206240"/>
            <a:ext cx="1371600" cy="21945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25374E"/>
                </a:solidFill>
                <a:latin typeface="Aptos"/>
              </a:rPr>
              <a:t>AQuA-RAT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267712" y="4224527"/>
            <a:ext cx="2377440" cy="164592"/>
          </a:xfrm>
          <a:prstGeom prst="roundRect">
            <a:avLst>
              <a:gd name="adj" fmla="val 12000"/>
            </a:avLst>
          </a:prstGeom>
          <a:solidFill>
            <a:srgbClr val="DCE4E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2267712" y="4224527"/>
            <a:ext cx="1061117" cy="164592"/>
          </a:xfrm>
          <a:prstGeom prst="roundRect">
            <a:avLst>
              <a:gd name="adj" fmla="val 12000"/>
            </a:avLst>
          </a:prstGeom>
          <a:solidFill>
            <a:srgbClr val="008B91"/>
          </a:solidFill>
          <a:ln>
            <a:solidFill>
              <a:srgbClr val="008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09160" y="4187952"/>
            <a:ext cx="841248" cy="22860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9304E"/>
                </a:solidFill>
                <a:latin typeface="Aptos"/>
              </a:rPr>
              <a:t>−7.9 pp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" y="4718304"/>
            <a:ext cx="1371600" cy="21945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25374E"/>
                </a:solidFill>
                <a:latin typeface="Aptos"/>
              </a:rPr>
              <a:t>MathQA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267712" y="4736592"/>
            <a:ext cx="2377440" cy="164592"/>
          </a:xfrm>
          <a:prstGeom prst="roundRect">
            <a:avLst>
              <a:gd name="adj" fmla="val 12000"/>
            </a:avLst>
          </a:prstGeom>
          <a:solidFill>
            <a:srgbClr val="DCE4E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2267712" y="4736592"/>
            <a:ext cx="2377440" cy="164592"/>
          </a:xfrm>
          <a:prstGeom prst="roundRect">
            <a:avLst>
              <a:gd name="adj" fmla="val 12000"/>
            </a:avLst>
          </a:prstGeom>
          <a:solidFill>
            <a:srgbClr val="DA9E31"/>
          </a:solidFill>
          <a:ln>
            <a:solidFill>
              <a:srgbClr val="DA9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709160" y="4700016"/>
            <a:ext cx="841248" cy="22860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9304E"/>
                </a:solidFill>
                <a:latin typeface="Aptos"/>
              </a:rPr>
              <a:t>−17.7 pp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16752" y="1938528"/>
            <a:ext cx="5596128" cy="1572768"/>
          </a:xfrm>
          <a:prstGeom prst="roundRect">
            <a:avLst>
              <a:gd name="adj" fmla="val 12000"/>
            </a:avLst>
          </a:prstGeom>
          <a:solidFill>
            <a:srgbClr val="E7F6F5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135624" y="2084832"/>
            <a:ext cx="50292" cy="1280160"/>
          </a:xfrm>
          <a:prstGeom prst="rect">
            <a:avLst/>
          </a:prstGeom>
          <a:solidFill>
            <a:srgbClr val="008B91"/>
          </a:solidFill>
          <a:ln>
            <a:solidFill>
              <a:srgbClr val="008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272784" y="2093976"/>
            <a:ext cx="521208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9304E"/>
                </a:solidFill>
                <a:latin typeface="Aptos"/>
              </a:rPr>
              <a:t>Chain-of-Thought (CoT) reasoning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72784" y="2487168"/>
            <a:ext cx="5202936" cy="9144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buChar char="•"/>
              <a:defRPr sz="1160">
                <a:solidFill>
                  <a:srgbClr val="25374E"/>
                </a:solidFill>
                <a:latin typeface="Aptos"/>
              </a:defRPr>
            </a:pPr>
            <a:r>
              <a:t>Prompts an LLM to work through intermediate steps before answering.</a:t>
            </a:r>
          </a:p>
          <a:p>
            <a:pPr>
              <a:buChar char="•"/>
              <a:defRPr sz="1160">
                <a:solidFill>
                  <a:srgbClr val="25374E"/>
                </a:solidFill>
                <a:latin typeface="Aptos"/>
              </a:defRPr>
            </a:pPr>
            <a:r>
              <a:t>A cited study reported GPT-4o gains of +1.5 points on MMLU and +19.1 on MMLU-Pro.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016752" y="3675887"/>
            <a:ext cx="5596128" cy="1417320"/>
          </a:xfrm>
          <a:prstGeom prst="roundRect">
            <a:avLst>
              <a:gd name="adj" fmla="val 12000"/>
            </a:avLst>
          </a:prstGeom>
          <a:solidFill>
            <a:srgbClr val="F5F8FB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135624" y="3822191"/>
            <a:ext cx="50292" cy="1124712"/>
          </a:xfrm>
          <a:prstGeom prst="rect">
            <a:avLst/>
          </a:prstGeom>
          <a:solidFill>
            <a:srgbClr val="376397"/>
          </a:solidFill>
          <a:ln>
            <a:solidFill>
              <a:srgbClr val="376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272784" y="3831335"/>
            <a:ext cx="521208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9304E"/>
                </a:solidFill>
                <a:latin typeface="Aptos"/>
              </a:rPr>
              <a:t>DeepSeek-R1: Strong representative model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72784" y="4224527"/>
            <a:ext cx="5202936" cy="75895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buChar char="•"/>
              <a:defRPr sz="1140">
                <a:solidFill>
                  <a:srgbClr val="25374E"/>
                </a:solidFill>
                <a:latin typeface="Aptos"/>
              </a:defRPr>
            </a:pPr>
            <a:r>
              <a:t>Strongest representative model; slightly ahead of Jev on average.</a:t>
            </a:r>
          </a:p>
          <a:p>
            <a:pPr>
              <a:buChar char="•"/>
              <a:defRPr sz="1140">
                <a:solidFill>
                  <a:srgbClr val="25374E"/>
                </a:solidFill>
                <a:latin typeface="Aptos"/>
              </a:defRPr>
            </a:pPr>
            <a:r>
              <a:t>Outperformed Jev on several non-math benchmarks, while Jev did better on the two math benchmarks.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49808" y="5669280"/>
            <a:ext cx="10680192" cy="530352"/>
          </a:xfrm>
          <a:prstGeom prst="roundRect">
            <a:avLst>
              <a:gd name="adj" fmla="val 12000"/>
            </a:avLst>
          </a:prstGeom>
          <a:solidFill>
            <a:srgbClr val="F5F8FB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50976" y="5779008"/>
            <a:ext cx="1298448" cy="18288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008B91"/>
                </a:solidFill>
                <a:latin typeface="Aptos"/>
              </a:rPr>
              <a:t>KEY TAKEAWAY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22576" y="5742432"/>
            <a:ext cx="8732520" cy="29260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9304E"/>
                </a:solidFill>
                <a:latin typeface="Aptos"/>
              </a:rPr>
              <a:t>Jev's gap tends to widen on tasks requiring more complex reasoning and calculations.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9184" y="256032"/>
            <a:ext cx="68580" cy="384048"/>
          </a:xfrm>
          <a:prstGeom prst="rect">
            <a:avLst/>
          </a:prstGeom>
          <a:solidFill>
            <a:srgbClr val="008B91"/>
          </a:solidFill>
          <a:ln>
            <a:solidFill>
              <a:srgbClr val="008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182880"/>
            <a:ext cx="11155680" cy="4754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9304E"/>
                </a:solidFill>
                <a:latin typeface="Aptos"/>
              </a:rPr>
              <a:t>Multilingual Performance: Can Jev Handle Different Languages?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" y="713232"/>
            <a:ext cx="10881360" cy="2011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8B91"/>
                </a:solidFill>
                <a:latin typeface="Aptos"/>
              </a:rPr>
              <a:t>TRANSLATED QUESTIONS AND NATIVE-LANGUAGE KNOWLEDGE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784" y="950976"/>
            <a:ext cx="658368" cy="41148"/>
          </a:xfrm>
          <a:prstGeom prst="rect">
            <a:avLst/>
          </a:prstGeom>
          <a:solidFill>
            <a:srgbClr val="008B91"/>
          </a:solidFill>
          <a:ln>
            <a:solidFill>
              <a:srgbClr val="008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5120" y="6378448"/>
            <a:ext cx="11475720" cy="16459"/>
          </a:xfrm>
          <a:prstGeom prst="rect">
            <a:avLst/>
          </a:prstGeom>
          <a:solidFill>
            <a:srgbClr val="DAE4ED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356848" y="6611112"/>
            <a:ext cx="38404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B7089"/>
                </a:solidFill>
                <a:latin typeface="Aptos"/>
              </a:rPr>
              <a:t>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170432"/>
            <a:ext cx="10972800" cy="23391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 dirty="0">
                <a:solidFill>
                  <a:srgbClr val="5B7089"/>
                </a:solidFill>
                <a:latin typeface="Aptos"/>
              </a:rPr>
              <a:t>The study tests whether models can answer benchmark questions presented in different languages.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572768"/>
            <a:ext cx="5376672" cy="841248"/>
          </a:xfrm>
          <a:prstGeom prst="roundRect">
            <a:avLst>
              <a:gd name="adj" fmla="val 12000"/>
            </a:avLst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1719072"/>
            <a:ext cx="50292" cy="548640"/>
          </a:xfrm>
          <a:prstGeom prst="rect">
            <a:avLst/>
          </a:prstGeom>
          <a:solidFill>
            <a:srgbClr val="376397"/>
          </a:solidFill>
          <a:ln>
            <a:solidFill>
              <a:srgbClr val="376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1728216"/>
            <a:ext cx="4992624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9304E"/>
                </a:solidFill>
                <a:latin typeface="Aptos"/>
              </a:rPr>
              <a:t>MMLU-ProX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039112"/>
            <a:ext cx="498348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25374E"/>
                </a:solidFill>
                <a:latin typeface="Aptos"/>
              </a:rPr>
              <a:t>MMLU-Pro questions translated into 29 languages.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1572768"/>
            <a:ext cx="5376672" cy="841248"/>
          </a:xfrm>
          <a:prstGeom prst="roundRect">
            <a:avLst>
              <a:gd name="adj" fmla="val 12000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55080" y="1719072"/>
            <a:ext cx="50292" cy="548640"/>
          </a:xfrm>
          <a:prstGeom prst="rect">
            <a:avLst/>
          </a:prstGeom>
          <a:solidFill>
            <a:srgbClr val="008B91"/>
          </a:solidFill>
          <a:ln>
            <a:solidFill>
              <a:srgbClr val="008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1728216"/>
            <a:ext cx="4992624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9304E"/>
                </a:solidFill>
                <a:latin typeface="Aptos"/>
              </a:rPr>
              <a:t>MMMLU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046113"/>
            <a:ext cx="498348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25374E"/>
                </a:solidFill>
                <a:latin typeface="Aptos"/>
              </a:rPr>
              <a:t>MMLU questions translated into 14 languages.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2670048"/>
            <a:ext cx="5376672" cy="2157984"/>
          </a:xfrm>
          <a:prstGeom prst="roundRect">
            <a:avLst>
              <a:gd name="adj" fmla="val 12000"/>
            </a:avLst>
          </a:prstGeom>
          <a:solidFill>
            <a:srgbClr val="F5F8FB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2" y="2852928"/>
            <a:ext cx="4800600" cy="29260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9304E"/>
                </a:solidFill>
                <a:latin typeface="Aptos"/>
              </a:rPr>
              <a:t>Jev's multilingual results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" y="3328416"/>
            <a:ext cx="4901184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2688" y="3447288"/>
            <a:ext cx="1965960" cy="2011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5374E"/>
                </a:solidFill>
                <a:latin typeface="Aptos"/>
              </a:rPr>
              <a:t>MMLU-ProX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3438144"/>
            <a:ext cx="1024128" cy="2011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B91"/>
                </a:solidFill>
                <a:latin typeface="Aptos"/>
              </a:rPr>
              <a:t>83.2%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24528" y="3438144"/>
            <a:ext cx="1188720" cy="2011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5B7089"/>
                </a:solidFill>
                <a:latin typeface="Aptos"/>
              </a:rPr>
              <a:t>84.5%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6384" y="3895344"/>
            <a:ext cx="4901184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32688" y="4014215"/>
            <a:ext cx="1965960" cy="2011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5374E"/>
                </a:solidFill>
                <a:latin typeface="Aptos"/>
              </a:rPr>
              <a:t>MMMLU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4005072"/>
            <a:ext cx="1024128" cy="2011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B91"/>
                </a:solidFill>
                <a:latin typeface="Aptos"/>
              </a:rPr>
              <a:t>85.0%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24528" y="4005072"/>
            <a:ext cx="1188720" cy="2011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5B7089"/>
                </a:solidFill>
                <a:latin typeface="Aptos"/>
              </a:rPr>
              <a:t>88.6%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80944" y="3136392"/>
            <a:ext cx="107899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8B91"/>
                </a:solidFill>
                <a:latin typeface="Aptos"/>
              </a:rPr>
              <a:t>Jev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87952" y="3136392"/>
            <a:ext cx="12801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7089"/>
                </a:solidFill>
                <a:latin typeface="Aptos"/>
              </a:rPr>
              <a:t>Frontier median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36208" y="2670048"/>
            <a:ext cx="5376672" cy="2157984"/>
          </a:xfrm>
          <a:prstGeom prst="roundRect">
            <a:avLst>
              <a:gd name="adj" fmla="val 12000"/>
            </a:avLst>
          </a:prstGeom>
          <a:solidFill>
            <a:srgbClr val="EBF2FA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355080" y="2816352"/>
            <a:ext cx="50292" cy="1865376"/>
          </a:xfrm>
          <a:prstGeom prst="rect">
            <a:avLst/>
          </a:prstGeom>
          <a:solidFill>
            <a:srgbClr val="376397"/>
          </a:solidFill>
          <a:ln>
            <a:solidFill>
              <a:srgbClr val="376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92240" y="2825496"/>
            <a:ext cx="4992624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9304E"/>
                </a:solidFill>
                <a:latin typeface="Aptos"/>
              </a:rPr>
              <a:t>Translated vs. native Chinese questions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3218688"/>
            <a:ext cx="4983480" cy="132959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buChar char="•"/>
              <a:defRPr sz="1200">
                <a:solidFill>
                  <a:srgbClr val="25374E"/>
                </a:solidFill>
                <a:latin typeface="Aptos"/>
              </a:defRPr>
            </a:pPr>
            <a:r>
              <a:rPr sz="1400" dirty="0"/>
              <a:t>Translated questions: </a:t>
            </a:r>
            <a:r>
              <a:rPr sz="1400" dirty="0" err="1"/>
              <a:t>Jev</a:t>
            </a:r>
            <a:r>
              <a:rPr sz="1400" dirty="0"/>
              <a:t> performs reasonably well when English benchmark questions are translated.</a:t>
            </a:r>
          </a:p>
          <a:p>
            <a:pPr>
              <a:buChar char="•"/>
              <a:defRPr sz="1200">
                <a:solidFill>
                  <a:srgbClr val="25374E"/>
                </a:solidFill>
                <a:latin typeface="Aptos"/>
              </a:defRPr>
            </a:pPr>
            <a:r>
              <a:rPr sz="1400" dirty="0"/>
              <a:t>C-</a:t>
            </a:r>
            <a:r>
              <a:rPr sz="1400" dirty="0" err="1"/>
              <a:t>Eval</a:t>
            </a:r>
            <a:r>
              <a:rPr sz="1400" dirty="0"/>
              <a:t>: </a:t>
            </a:r>
            <a:r>
              <a:rPr sz="1400" dirty="0" err="1"/>
              <a:t>Jev</a:t>
            </a:r>
            <a:r>
              <a:rPr sz="1400" dirty="0"/>
              <a:t> scored 85.3%, around 8.3 points below the frontier median of 93.6%.</a:t>
            </a:r>
          </a:p>
          <a:p>
            <a:pPr>
              <a:buChar char="•"/>
              <a:defRPr sz="1200">
                <a:solidFill>
                  <a:srgbClr val="25374E"/>
                </a:solidFill>
                <a:latin typeface="Aptos"/>
              </a:defRPr>
            </a:pPr>
            <a:r>
              <a:rPr sz="1400" dirty="0"/>
              <a:t>C-</a:t>
            </a:r>
            <a:r>
              <a:rPr sz="1400" dirty="0" err="1"/>
              <a:t>Eval</a:t>
            </a:r>
            <a:r>
              <a:rPr sz="1400" dirty="0"/>
              <a:t> uses Chinese exam questions, requiring curriculum-specific knowledge.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9808" y="5166360"/>
            <a:ext cx="10680192" cy="822960"/>
          </a:xfrm>
          <a:prstGeom prst="roundRect">
            <a:avLst>
              <a:gd name="adj" fmla="val 12000"/>
            </a:avLst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60120" y="5321808"/>
            <a:ext cx="1261872" cy="2011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8B91"/>
                </a:solidFill>
                <a:latin typeface="Aptos"/>
              </a:rPr>
              <a:t>KEY TAKEAWAY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04288" y="5285232"/>
            <a:ext cx="8732520" cy="49377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9304E"/>
                </a:solidFill>
                <a:latin typeface="Aptos"/>
              </a:rPr>
              <a:t>Jev transfers reasonably well to translated questions, but performs less strongly on language- and curriculum-specific knowledge.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9184" y="256032"/>
            <a:ext cx="68580" cy="384048"/>
          </a:xfrm>
          <a:prstGeom prst="rect">
            <a:avLst/>
          </a:prstGeom>
          <a:solidFill>
            <a:srgbClr val="008B91"/>
          </a:solidFill>
          <a:ln>
            <a:solidFill>
              <a:srgbClr val="008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182880"/>
            <a:ext cx="11155680" cy="4754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9304E"/>
                </a:solidFill>
                <a:latin typeface="Aptos"/>
              </a:rPr>
              <a:t>Reliability Check &amp; Future Directions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" y="713232"/>
            <a:ext cx="10881360" cy="2011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8B91"/>
                </a:solidFill>
                <a:latin typeface="Aptos"/>
              </a:rPr>
              <a:t>HOW CONSISTENT ARE THE FINDINGS, AND WHAT COMES NEXT?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784" y="950976"/>
            <a:ext cx="658368" cy="41148"/>
          </a:xfrm>
          <a:prstGeom prst="rect">
            <a:avLst/>
          </a:prstGeom>
          <a:solidFill>
            <a:srgbClr val="008B91"/>
          </a:solidFill>
          <a:ln>
            <a:solidFill>
              <a:srgbClr val="008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47472" y="6459728"/>
            <a:ext cx="11475720" cy="16459"/>
          </a:xfrm>
          <a:prstGeom prst="rect">
            <a:avLst/>
          </a:prstGeom>
          <a:solidFill>
            <a:srgbClr val="DAE4ED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356848" y="6611112"/>
            <a:ext cx="38404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B7089"/>
                </a:solidFill>
                <a:latin typeface="Aptos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170432"/>
            <a:ext cx="10972800" cy="27432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7089"/>
                </a:solidFill>
                <a:latin typeface="Aptos"/>
              </a:rPr>
              <a:t>The researchers compared their Jev evaluation with an independent study by Deußer et al. (2026).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572768"/>
            <a:ext cx="5559552" cy="2852928"/>
          </a:xfrm>
          <a:prstGeom prst="roundRect">
            <a:avLst>
              <a:gd name="adj" fmla="val 12000"/>
            </a:avLst>
          </a:prstGeom>
          <a:solidFill>
            <a:srgbClr val="F5F8FB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" y="1719072"/>
            <a:ext cx="4983480" cy="27432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9304E"/>
                </a:solidFill>
                <a:latin typeface="Aptos"/>
              </a:rPr>
              <a:t>Independent evaluation comparison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" y="2084831"/>
            <a:ext cx="1554480" cy="365760"/>
          </a:xfrm>
          <a:prstGeom prst="rect">
            <a:avLst/>
          </a:prstGeom>
          <a:solidFill>
            <a:srgbClr val="19304E"/>
          </a:solidFill>
          <a:ln>
            <a:solidFill>
              <a:srgbClr val="19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3816" y="2176272"/>
            <a:ext cx="149961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FFFFFF"/>
                </a:solidFill>
                <a:latin typeface="Aptos"/>
              </a:rPr>
              <a:t>Benchmark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04872" y="2084831"/>
            <a:ext cx="1069848" cy="365760"/>
          </a:xfrm>
          <a:prstGeom prst="rect">
            <a:avLst/>
          </a:prstGeom>
          <a:solidFill>
            <a:srgbClr val="19304E"/>
          </a:solidFill>
          <a:ln>
            <a:solidFill>
              <a:srgbClr val="19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432303" y="2176272"/>
            <a:ext cx="1014983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FFFFFF"/>
                </a:solidFill>
                <a:latin typeface="Aptos"/>
              </a:rPr>
              <a:t>This paper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11296" y="2084831"/>
            <a:ext cx="1170432" cy="365760"/>
          </a:xfrm>
          <a:prstGeom prst="rect">
            <a:avLst/>
          </a:prstGeom>
          <a:solidFill>
            <a:srgbClr val="19304E"/>
          </a:solidFill>
          <a:ln>
            <a:solidFill>
              <a:srgbClr val="19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38727" y="2176272"/>
            <a:ext cx="111556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FFFFFF"/>
                </a:solidFill>
                <a:latin typeface="Aptos"/>
              </a:rPr>
              <a:t>Independent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18304" y="2084831"/>
            <a:ext cx="1152144" cy="365760"/>
          </a:xfrm>
          <a:prstGeom prst="rect">
            <a:avLst/>
          </a:prstGeom>
          <a:solidFill>
            <a:srgbClr val="19304E"/>
          </a:solidFill>
          <a:ln>
            <a:solidFill>
              <a:srgbClr val="19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45736" y="2176272"/>
            <a:ext cx="10972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FFFFFF"/>
                </a:solidFill>
                <a:latin typeface="Aptos"/>
              </a:rPr>
              <a:t>Difference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6384" y="2468880"/>
            <a:ext cx="1554480" cy="310896"/>
          </a:xfrm>
          <a:prstGeom prst="rect">
            <a:avLst/>
          </a:prstGeom>
          <a:solidFill>
            <a:srgbClr val="EBF2FA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2542032"/>
            <a:ext cx="14813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5374E"/>
                </a:solidFill>
                <a:latin typeface="Aptos"/>
              </a:rPr>
              <a:t>MMLU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04872" y="2468880"/>
            <a:ext cx="1069848" cy="310896"/>
          </a:xfrm>
          <a:prstGeom prst="rect">
            <a:avLst/>
          </a:prstGeom>
          <a:solidFill>
            <a:srgbClr val="EBF2FA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441448" y="2542032"/>
            <a:ext cx="99669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5374E"/>
                </a:solidFill>
                <a:latin typeface="Aptos"/>
              </a:rPr>
              <a:t>91.3%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11296" y="2468880"/>
            <a:ext cx="1170432" cy="310896"/>
          </a:xfrm>
          <a:prstGeom prst="rect">
            <a:avLst/>
          </a:prstGeom>
          <a:solidFill>
            <a:srgbClr val="EBF2FA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547872" y="2542032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5374E"/>
                </a:solidFill>
                <a:latin typeface="Aptos"/>
              </a:rPr>
              <a:t>91.8%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18304" y="2468880"/>
            <a:ext cx="1152144" cy="310896"/>
          </a:xfrm>
          <a:prstGeom prst="rect">
            <a:avLst/>
          </a:prstGeom>
          <a:solidFill>
            <a:srgbClr val="EBF2FA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54880" y="2542032"/>
            <a:ext cx="107899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5374E"/>
                </a:solidFill>
                <a:latin typeface="Aptos"/>
              </a:rPr>
              <a:t>0.5 pts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6384" y="2798064"/>
            <a:ext cx="1554480" cy="310896"/>
          </a:xfrm>
          <a:prstGeom prst="rect">
            <a:avLst/>
          </a:prstGeom>
          <a:solidFill>
            <a:srgbClr val="FFFFFF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2960" y="2871216"/>
            <a:ext cx="14813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5374E"/>
                </a:solidFill>
                <a:latin typeface="Aptos"/>
              </a:rPr>
              <a:t>C-Eval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404872" y="2798064"/>
            <a:ext cx="1069848" cy="310896"/>
          </a:xfrm>
          <a:prstGeom prst="rect">
            <a:avLst/>
          </a:prstGeom>
          <a:solidFill>
            <a:srgbClr val="FFFFFF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441448" y="2871216"/>
            <a:ext cx="99669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5374E"/>
                </a:solidFill>
                <a:latin typeface="Aptos"/>
              </a:rPr>
              <a:t>85.3%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11296" y="2798064"/>
            <a:ext cx="1170432" cy="310896"/>
          </a:xfrm>
          <a:prstGeom prst="rect">
            <a:avLst/>
          </a:prstGeom>
          <a:solidFill>
            <a:srgbClr val="FFFFFF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547872" y="2871216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5374E"/>
                </a:solidFill>
                <a:latin typeface="Aptos"/>
              </a:rPr>
              <a:t>83.9%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18304" y="2798064"/>
            <a:ext cx="1152144" cy="310896"/>
          </a:xfrm>
          <a:prstGeom prst="rect">
            <a:avLst/>
          </a:prstGeom>
          <a:solidFill>
            <a:srgbClr val="FFFFFF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754880" y="2871216"/>
            <a:ext cx="107899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5374E"/>
                </a:solidFill>
                <a:latin typeface="Aptos"/>
              </a:rPr>
              <a:t>1.4 pts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6384" y="3127248"/>
            <a:ext cx="1554480" cy="310896"/>
          </a:xfrm>
          <a:prstGeom prst="rect">
            <a:avLst/>
          </a:prstGeom>
          <a:solidFill>
            <a:srgbClr val="EBF2FA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2960" y="3200400"/>
            <a:ext cx="14813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5374E"/>
                </a:solidFill>
                <a:latin typeface="Aptos"/>
              </a:rPr>
              <a:t>HellaSwag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404872" y="3127248"/>
            <a:ext cx="1069848" cy="310896"/>
          </a:xfrm>
          <a:prstGeom prst="rect">
            <a:avLst/>
          </a:prstGeom>
          <a:solidFill>
            <a:srgbClr val="EBF2FA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441448" y="3200400"/>
            <a:ext cx="99669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5374E"/>
                </a:solidFill>
                <a:latin typeface="Aptos"/>
              </a:rPr>
              <a:t>89.3%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511296" y="3127248"/>
            <a:ext cx="1170432" cy="310896"/>
          </a:xfrm>
          <a:prstGeom prst="rect">
            <a:avLst/>
          </a:prstGeom>
          <a:solidFill>
            <a:srgbClr val="EBF2FA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547872" y="3200400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5374E"/>
                </a:solidFill>
                <a:latin typeface="Aptos"/>
              </a:rPr>
              <a:t>95.5%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718304" y="3127248"/>
            <a:ext cx="1152144" cy="310896"/>
          </a:xfrm>
          <a:prstGeom prst="rect">
            <a:avLst/>
          </a:prstGeom>
          <a:solidFill>
            <a:srgbClr val="EBF2FA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754880" y="3200400"/>
            <a:ext cx="107899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5374E"/>
                </a:solidFill>
                <a:latin typeface="Aptos"/>
              </a:rPr>
              <a:t>6.2 pts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86384" y="3456432"/>
            <a:ext cx="1554480" cy="310896"/>
          </a:xfrm>
          <a:prstGeom prst="rect">
            <a:avLst/>
          </a:prstGeom>
          <a:solidFill>
            <a:srgbClr val="FFFFFF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22960" y="3529584"/>
            <a:ext cx="14813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5374E"/>
                </a:solidFill>
                <a:latin typeface="Aptos"/>
              </a:rPr>
              <a:t>WinoGrande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404872" y="3456432"/>
            <a:ext cx="1069848" cy="310896"/>
          </a:xfrm>
          <a:prstGeom prst="rect">
            <a:avLst/>
          </a:prstGeom>
          <a:solidFill>
            <a:srgbClr val="FFFFFF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441448" y="3529584"/>
            <a:ext cx="99669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5374E"/>
                </a:solidFill>
                <a:latin typeface="Aptos"/>
              </a:rPr>
              <a:t>91.8%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511296" y="3456432"/>
            <a:ext cx="1170432" cy="310896"/>
          </a:xfrm>
          <a:prstGeom prst="rect">
            <a:avLst/>
          </a:prstGeom>
          <a:solidFill>
            <a:srgbClr val="FFFFFF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547872" y="3529584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5374E"/>
                </a:solidFill>
                <a:latin typeface="Aptos"/>
              </a:rPr>
              <a:t>91.4%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718304" y="3456432"/>
            <a:ext cx="1152144" cy="310896"/>
          </a:xfrm>
          <a:prstGeom prst="rect">
            <a:avLst/>
          </a:prstGeom>
          <a:solidFill>
            <a:srgbClr val="FFFFFF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754880" y="3529584"/>
            <a:ext cx="107899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5374E"/>
                </a:solidFill>
                <a:latin typeface="Aptos"/>
              </a:rPr>
              <a:t>0.4 pts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86384" y="3785616"/>
            <a:ext cx="1554480" cy="310896"/>
          </a:xfrm>
          <a:prstGeom prst="rect">
            <a:avLst/>
          </a:prstGeom>
          <a:solidFill>
            <a:srgbClr val="EBF2FA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22960" y="3858768"/>
            <a:ext cx="14813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5374E"/>
                </a:solidFill>
                <a:latin typeface="Aptos"/>
              </a:rPr>
              <a:t>ARC*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404872" y="3785616"/>
            <a:ext cx="1069848" cy="310896"/>
          </a:xfrm>
          <a:prstGeom prst="rect">
            <a:avLst/>
          </a:prstGeom>
          <a:solidFill>
            <a:srgbClr val="EBF2FA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2441448" y="3858768"/>
            <a:ext cx="99669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5374E"/>
                </a:solidFill>
                <a:latin typeface="Aptos"/>
              </a:rPr>
              <a:t>97.6%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511296" y="3785616"/>
            <a:ext cx="1170432" cy="310896"/>
          </a:xfrm>
          <a:prstGeom prst="rect">
            <a:avLst/>
          </a:prstGeom>
          <a:solidFill>
            <a:srgbClr val="EBF2FA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547872" y="3858768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5374E"/>
                </a:solidFill>
                <a:latin typeface="Aptos"/>
              </a:rPr>
              <a:t>98.8%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718304" y="3785616"/>
            <a:ext cx="1152144" cy="310896"/>
          </a:xfrm>
          <a:prstGeom prst="rect">
            <a:avLst/>
          </a:prstGeom>
          <a:solidFill>
            <a:srgbClr val="EBF2FA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754880" y="3858768"/>
            <a:ext cx="107899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5374E"/>
                </a:solidFill>
                <a:latin typeface="Aptos"/>
              </a:rPr>
              <a:t>1.2 pts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04672" y="4160520"/>
            <a:ext cx="5010912" cy="2011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 dirty="0">
                <a:solidFill>
                  <a:srgbClr val="5B7089"/>
                </a:solidFill>
                <a:latin typeface="Aptos"/>
              </a:rPr>
              <a:t>*ARC is not like-for-like: this study uses ARC-Challenge; the independent result combines ARC-Easy and ARC-Challenge.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345936" y="1572768"/>
            <a:ext cx="5266944" cy="1481328"/>
          </a:xfrm>
          <a:prstGeom prst="roundRect">
            <a:avLst>
              <a:gd name="adj" fmla="val 12000"/>
            </a:avLst>
          </a:prstGeom>
          <a:solidFill>
            <a:srgbClr val="EBF2FA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6464808" y="1719072"/>
            <a:ext cx="50292" cy="1188720"/>
          </a:xfrm>
          <a:prstGeom prst="rect">
            <a:avLst/>
          </a:prstGeom>
          <a:solidFill>
            <a:srgbClr val="376397"/>
          </a:solidFill>
          <a:ln>
            <a:solidFill>
              <a:srgbClr val="376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601968" y="1728216"/>
            <a:ext cx="4882896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9304E"/>
                </a:solidFill>
                <a:latin typeface="Aptos"/>
              </a:rPr>
              <a:t>What do the results tell us?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01968" y="2084831"/>
            <a:ext cx="4873752" cy="59093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buChar char="•"/>
              <a:defRPr sz="1060">
                <a:solidFill>
                  <a:srgbClr val="25374E"/>
                </a:solidFill>
                <a:latin typeface="Aptos"/>
              </a:defRPr>
            </a:pPr>
            <a:r>
              <a:rPr sz="1200" dirty="0"/>
              <a:t>Close agreement on MMLU, </a:t>
            </a:r>
            <a:r>
              <a:rPr sz="1200" dirty="0" err="1"/>
              <a:t>WinoGrande</a:t>
            </a:r>
            <a:r>
              <a:rPr sz="1200" dirty="0"/>
              <a:t> and C-</a:t>
            </a:r>
            <a:r>
              <a:rPr sz="1200" dirty="0" err="1"/>
              <a:t>Eval</a:t>
            </a:r>
            <a:r>
              <a:rPr sz="1200" dirty="0"/>
              <a:t>.</a:t>
            </a:r>
          </a:p>
          <a:p>
            <a:pPr>
              <a:buChar char="•"/>
              <a:defRPr sz="1060">
                <a:solidFill>
                  <a:srgbClr val="25374E"/>
                </a:solidFill>
                <a:latin typeface="Aptos"/>
              </a:defRPr>
            </a:pPr>
            <a:r>
              <a:rPr sz="1200" dirty="0" err="1"/>
              <a:t>HellaSwag</a:t>
            </a:r>
            <a:r>
              <a:rPr sz="1200" dirty="0"/>
              <a:t> differs by 6.2 points; request templates may affect results because </a:t>
            </a:r>
            <a:r>
              <a:rPr sz="1200" dirty="0" err="1"/>
              <a:t>Jev</a:t>
            </a:r>
            <a:r>
              <a:rPr sz="1200" dirty="0"/>
              <a:t> is sensitive to option presentation.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345936" y="3218688"/>
            <a:ext cx="5266944" cy="1207008"/>
          </a:xfrm>
          <a:prstGeom prst="roundRect">
            <a:avLst>
              <a:gd name="adj" fmla="val 12000"/>
            </a:avLst>
          </a:prstGeom>
          <a:solidFill>
            <a:srgbClr val="E7F6F5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6464808" y="3364992"/>
            <a:ext cx="50292" cy="914400"/>
          </a:xfrm>
          <a:prstGeom prst="rect">
            <a:avLst/>
          </a:prstGeom>
          <a:solidFill>
            <a:srgbClr val="008B91"/>
          </a:solidFill>
          <a:ln>
            <a:solidFill>
              <a:srgbClr val="008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601968" y="3374136"/>
            <a:ext cx="4882896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9304E"/>
                </a:solidFill>
                <a:latin typeface="Aptos"/>
              </a:rPr>
              <a:t>Future directions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588760" y="3670173"/>
            <a:ext cx="4873752" cy="59093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buChar char="•"/>
              <a:defRPr sz="1060">
                <a:solidFill>
                  <a:srgbClr val="25374E"/>
                </a:solidFill>
                <a:latin typeface="Aptos"/>
              </a:defRPr>
            </a:pPr>
            <a:r>
              <a:rPr sz="1200" dirty="0"/>
              <a:t>Unified evaluation: test all model tiers using the same protocol.</a:t>
            </a:r>
          </a:p>
          <a:p>
            <a:pPr>
              <a:buChar char="•"/>
              <a:defRPr sz="1060">
                <a:solidFill>
                  <a:srgbClr val="25374E"/>
                </a:solidFill>
                <a:latin typeface="Aptos"/>
              </a:defRPr>
            </a:pPr>
            <a:r>
              <a:rPr sz="1200" dirty="0"/>
              <a:t>Intelligent routing: use </a:t>
            </a:r>
            <a:r>
              <a:rPr sz="1200" dirty="0" err="1"/>
              <a:t>Jev's</a:t>
            </a:r>
            <a:r>
              <a:rPr sz="1200" dirty="0"/>
              <a:t> option probabilities to identify questions needing reasoning.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1792" y="4572000"/>
            <a:ext cx="3858768" cy="23391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 dirty="0">
                <a:solidFill>
                  <a:srgbClr val="008B91"/>
                </a:solidFill>
                <a:latin typeface="Aptos"/>
              </a:rPr>
              <a:t>PROPOSED FUTURE WORKFLOW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49808" y="4882896"/>
            <a:ext cx="3090672" cy="713232"/>
          </a:xfrm>
          <a:prstGeom prst="roundRect">
            <a:avLst>
              <a:gd name="adj" fmla="val 12000"/>
            </a:avLst>
          </a:prstGeom>
          <a:solidFill>
            <a:srgbClr val="E7F6F5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896112" y="5047488"/>
            <a:ext cx="2798064" cy="34747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9304E"/>
                </a:solidFill>
                <a:latin typeface="Aptos"/>
              </a:rPr>
              <a:t>Jev handles
suitable decisions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931920" y="5212080"/>
            <a:ext cx="438912" cy="32004"/>
          </a:xfrm>
          <a:prstGeom prst="rect">
            <a:avLst/>
          </a:prstGeom>
          <a:solidFill>
            <a:srgbClr val="008B91"/>
          </a:solidFill>
          <a:ln>
            <a:solidFill>
              <a:srgbClr val="008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ounded Rectangle 72"/>
          <p:cNvSpPr/>
          <p:nvPr/>
        </p:nvSpPr>
        <p:spPr>
          <a:xfrm>
            <a:off x="4480560" y="4882896"/>
            <a:ext cx="3090672" cy="713232"/>
          </a:xfrm>
          <a:prstGeom prst="roundRect">
            <a:avLst>
              <a:gd name="adj" fmla="val 12000"/>
            </a:avLst>
          </a:prstGeom>
          <a:solidFill>
            <a:srgbClr val="FBF6E9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4626864" y="5047488"/>
            <a:ext cx="2798064" cy="34747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9304E"/>
                </a:solidFill>
                <a:latin typeface="Aptos"/>
              </a:rPr>
              <a:t>Assess whether deeper
reasoning is needed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662672" y="5212080"/>
            <a:ext cx="438912" cy="32004"/>
          </a:xfrm>
          <a:prstGeom prst="rect">
            <a:avLst/>
          </a:prstGeom>
          <a:solidFill>
            <a:srgbClr val="008B91"/>
          </a:solidFill>
          <a:ln>
            <a:solidFill>
              <a:srgbClr val="008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ounded Rectangle 75"/>
          <p:cNvSpPr/>
          <p:nvPr/>
        </p:nvSpPr>
        <p:spPr>
          <a:xfrm>
            <a:off x="8211312" y="4882896"/>
            <a:ext cx="3090672" cy="713232"/>
          </a:xfrm>
          <a:prstGeom prst="roundRect">
            <a:avLst>
              <a:gd name="adj" fmla="val 12000"/>
            </a:avLst>
          </a:prstGeom>
          <a:solidFill>
            <a:srgbClr val="EBF2FA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8357616" y="5047488"/>
            <a:ext cx="2798064" cy="34747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9304E"/>
                </a:solidFill>
                <a:latin typeface="Aptos"/>
              </a:rPr>
              <a:t>Reasoning model handles
complex questions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572768" y="5742432"/>
            <a:ext cx="9052560" cy="420624"/>
          </a:xfrm>
          <a:prstGeom prst="roundRect">
            <a:avLst>
              <a:gd name="adj" fmla="val 12000"/>
            </a:avLst>
          </a:prstGeom>
          <a:solidFill>
            <a:srgbClr val="F5F8FB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1691640" y="5833872"/>
            <a:ext cx="8796528" cy="16466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1" dirty="0">
                <a:solidFill>
                  <a:srgbClr val="5B7089"/>
                </a:solidFill>
                <a:latin typeface="Aptos"/>
              </a:rPr>
              <a:t>Proposed future </a:t>
            </a:r>
            <a:r>
              <a:rPr sz="950" b="0" i="1" dirty="0" smtClean="0">
                <a:solidFill>
                  <a:srgbClr val="5B7089"/>
                </a:solidFill>
                <a:latin typeface="Aptos"/>
              </a:rPr>
              <a:t>approach</a:t>
            </a:r>
            <a:endParaRPr sz="950" b="0" i="1" dirty="0">
              <a:solidFill>
                <a:srgbClr val="5B7089"/>
              </a:solidFill>
              <a:latin typeface="Apto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9184" y="256032"/>
            <a:ext cx="68580" cy="384048"/>
          </a:xfrm>
          <a:prstGeom prst="rect">
            <a:avLst/>
          </a:prstGeom>
          <a:solidFill>
            <a:srgbClr val="008B91"/>
          </a:solidFill>
          <a:ln>
            <a:solidFill>
              <a:srgbClr val="008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182880"/>
            <a:ext cx="11155680" cy="4754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9304E"/>
                </a:solidFill>
                <a:latin typeface="Aptos"/>
              </a:rPr>
              <a:t>Conclusion: The Right Model for the Right Task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" y="713232"/>
            <a:ext cx="10881360" cy="2011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8B91"/>
                </a:solidFill>
                <a:latin typeface="Aptos"/>
              </a:rPr>
              <a:t>KEY TAKEAWAYS FROM THE RESEARCH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784" y="950976"/>
            <a:ext cx="658368" cy="41148"/>
          </a:xfrm>
          <a:prstGeom prst="rect">
            <a:avLst/>
          </a:prstGeom>
          <a:solidFill>
            <a:srgbClr val="008B91"/>
          </a:solidFill>
          <a:ln>
            <a:solidFill>
              <a:srgbClr val="008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47472" y="6601968"/>
            <a:ext cx="11475720" cy="16459"/>
          </a:xfrm>
          <a:prstGeom prst="rect">
            <a:avLst/>
          </a:prstGeom>
          <a:solidFill>
            <a:srgbClr val="DAE4ED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356848" y="6611112"/>
            <a:ext cx="38404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B7089"/>
                </a:solidFill>
                <a:latin typeface="Aptos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225296"/>
            <a:ext cx="11045952" cy="640080"/>
          </a:xfrm>
          <a:prstGeom prst="roundRect">
            <a:avLst>
              <a:gd name="adj" fmla="val 12000"/>
            </a:avLst>
          </a:prstGeom>
          <a:solidFill>
            <a:srgbClr val="E7F6F5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" y="1353312"/>
            <a:ext cx="1536192" cy="18288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8B91"/>
                </a:solidFill>
                <a:latin typeface="Aptos"/>
              </a:rPr>
              <a:t>WHAT DID THE RESEARCH FIND?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95728" y="1316736"/>
            <a:ext cx="8887968" cy="34747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9304E"/>
                </a:solidFill>
                <a:latin typeface="Aptos"/>
              </a:rPr>
              <a:t>Jev is competitive on several knowledge and commonsense benchmarks, but struggles with mathematical word problems.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084831"/>
            <a:ext cx="5376672" cy="1078992"/>
          </a:xfrm>
          <a:prstGeom prst="roundRect">
            <a:avLst>
              <a:gd name="adj" fmla="val 12000"/>
            </a:avLst>
          </a:prstGeom>
          <a:solidFill>
            <a:srgbClr val="EBF2FA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" y="2231136"/>
            <a:ext cx="50292" cy="786383"/>
          </a:xfrm>
          <a:prstGeom prst="rect">
            <a:avLst/>
          </a:prstGeom>
          <a:solidFill>
            <a:srgbClr val="376397"/>
          </a:solidFill>
          <a:ln>
            <a:solidFill>
              <a:srgbClr val="376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2240279"/>
            <a:ext cx="4992624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9304E"/>
                </a:solidFill>
                <a:latin typeface="Aptos"/>
              </a:rPr>
              <a:t>Knowledge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633472"/>
            <a:ext cx="4983480" cy="42062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 i="0" dirty="0">
                <a:solidFill>
                  <a:srgbClr val="25374E"/>
                </a:solidFill>
                <a:latin typeface="Aptos"/>
              </a:rPr>
              <a:t>Strong results on MMLU-</a:t>
            </a:r>
            <a:r>
              <a:rPr sz="1130" b="0" i="0" dirty="0" err="1">
                <a:solidFill>
                  <a:srgbClr val="25374E"/>
                </a:solidFill>
                <a:latin typeface="Aptos"/>
              </a:rPr>
              <a:t>Redux</a:t>
            </a:r>
            <a:r>
              <a:rPr sz="1130" b="0" i="0" dirty="0">
                <a:solidFill>
                  <a:srgbClr val="25374E"/>
                </a:solidFill>
                <a:latin typeface="Aptos"/>
              </a:rPr>
              <a:t> (95.0%) and ARC-Challenge (97.6%).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2084831"/>
            <a:ext cx="5376672" cy="1078992"/>
          </a:xfrm>
          <a:prstGeom prst="roundRect">
            <a:avLst>
              <a:gd name="adj" fmla="val 12000"/>
            </a:avLst>
          </a:prstGeom>
          <a:solidFill>
            <a:srgbClr val="FAEEEF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55080" y="2231136"/>
            <a:ext cx="50292" cy="786383"/>
          </a:xfrm>
          <a:prstGeom prst="rect">
            <a:avLst/>
          </a:prstGeom>
          <a:solidFill>
            <a:srgbClr val="BE5558"/>
          </a:solidFill>
          <a:ln>
            <a:solidFill>
              <a:srgbClr val="BE5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2240279"/>
            <a:ext cx="4992624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9304E"/>
                </a:solidFill>
                <a:latin typeface="Aptos"/>
              </a:rPr>
              <a:t>Mathematics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633472"/>
            <a:ext cx="4983480" cy="42062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25374E"/>
                </a:solidFill>
                <a:latin typeface="Aptos"/>
              </a:rPr>
              <a:t>Scored below all 19 general-purpose LLMs on MathQA; multi-step calculations remain difficult.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383279"/>
            <a:ext cx="5376672" cy="1078992"/>
          </a:xfrm>
          <a:prstGeom prst="roundRect">
            <a:avLst>
              <a:gd name="adj" fmla="val 12000"/>
            </a:avLst>
          </a:prstGeom>
          <a:solidFill>
            <a:srgbClr val="E7F6F5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85800" y="3529584"/>
            <a:ext cx="50292" cy="786383"/>
          </a:xfrm>
          <a:prstGeom prst="rect">
            <a:avLst/>
          </a:prstGeom>
          <a:solidFill>
            <a:srgbClr val="008B91"/>
          </a:solidFill>
          <a:ln>
            <a:solidFill>
              <a:srgbClr val="008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3538727"/>
            <a:ext cx="4992624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9304E"/>
                </a:solidFill>
                <a:latin typeface="Aptos"/>
              </a:rPr>
              <a:t>Multilingual tasks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931920"/>
            <a:ext cx="4983480" cy="42062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25374E"/>
                </a:solidFill>
                <a:latin typeface="Aptos"/>
              </a:rPr>
              <a:t>Performs reasonably well on translated questions, but struggles with language- and curriculum-specific knowledge.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36208" y="3383279"/>
            <a:ext cx="5376672" cy="1078992"/>
          </a:xfrm>
          <a:prstGeom prst="roundRect">
            <a:avLst>
              <a:gd name="adj" fmla="val 12000"/>
            </a:avLst>
          </a:prstGeom>
          <a:solidFill>
            <a:srgbClr val="EBF2FA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355080" y="3529584"/>
            <a:ext cx="50292" cy="786383"/>
          </a:xfrm>
          <a:prstGeom prst="rect">
            <a:avLst/>
          </a:prstGeom>
          <a:solidFill>
            <a:srgbClr val="376397"/>
          </a:solidFill>
          <a:ln>
            <a:solidFill>
              <a:srgbClr val="376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92240" y="3538727"/>
            <a:ext cx="4992624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9304E"/>
                </a:solidFill>
                <a:latin typeface="Aptos"/>
              </a:rPr>
              <a:t>Practical use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931920"/>
            <a:ext cx="4983480" cy="42062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25374E"/>
                </a:solidFill>
                <a:latin typeface="Aptos"/>
              </a:rPr>
              <a:t>Effective for structured decisions with fixed options; complex reasoning may benefit from reasoning-focused models.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4956048"/>
            <a:ext cx="10680192" cy="804672"/>
          </a:xfrm>
          <a:prstGeom prst="roundRect">
            <a:avLst>
              <a:gd name="adj" fmla="val 12000"/>
            </a:avLst>
          </a:prstGeom>
          <a:solidFill>
            <a:srgbClr val="F5F8FB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9264" y="5084064"/>
            <a:ext cx="1463040" cy="2011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8B91"/>
                </a:solidFill>
                <a:latin typeface="Aptos"/>
              </a:rPr>
              <a:t>FINAL RESEARCH INSIGHT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05456" y="5047488"/>
            <a:ext cx="8613648" cy="53035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19304E"/>
                </a:solidFill>
                <a:latin typeface="Aptos"/>
              </a:rPr>
              <a:t>Specialized decision models can be alternatives for constrained tasks, while complex calculations and multi-step reasoning may need general-purpose reasoning models. Model choice should match application requirements.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54680" y="5879592"/>
            <a:ext cx="5897880" cy="274320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B91"/>
                </a:solidFill>
                <a:latin typeface="Aptos"/>
              </a:rPr>
              <a:t>The best model depends on the task.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6199632"/>
            <a:ext cx="3337560" cy="228600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9304E"/>
                </a:solidFill>
                <a:latin typeface="Aptos"/>
              </a:rPr>
              <a:t>Thank You!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419</TotalTime>
  <Words>1378</Words>
  <Application>Microsoft Office PowerPoint</Application>
  <PresentationFormat>Custom</PresentationFormat>
  <Paragraphs>252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ABI</dc:creator>
  <dc:description>generated using python-pptx</dc:description>
  <cp:lastModifiedBy>ADMIN</cp:lastModifiedBy>
  <cp:revision>16</cp:revision>
  <dcterms:created xsi:type="dcterms:W3CDTF">2013-01-27T09:14:16Z</dcterms:created>
  <dcterms:modified xsi:type="dcterms:W3CDTF">2026-11-01T16:55:06Z</dcterms:modified>
</cp:coreProperties>
</file>