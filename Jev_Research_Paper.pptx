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8005" autoAdjust="0"/>
  </p:normalViewPr>
  <p:slideViewPr>
    <p:cSldViewPr snapToGrid="0" snapToObjects="1">
      <p:cViewPr>
        <p:scale>
          <a:sx n="66" d="100"/>
          <a:sy n="66" d="100"/>
        </p:scale>
        <p:origin x="-1301" y="-3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83DC1E-1B30-4DE4-BB80-147EC732E5C5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208175-BE5C-466A-843C-D651BE1659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3308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smtClean="0"/>
              <a:t>.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Highlight the contrast between knowledge and mathematical tasks. The MathQA comparison is 75.0% for Jev versus a 92.7% frontier median, a 17.7 percentage-point gap. Explain the possible role of multi-step calculation as the authors' suggestion, not a proven cause.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the pattern across tasks and carefully distinguish the cited chain-of-thought study from this paper's own experiment. DeepSeek-R1 is described as the strongest representative model and slightly ahead of Jev on average.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Close by summarizing Jev's strengths, math limitations, multilingual performance, and practical implications. Reinforce that the best model depends on the task, then thank the audience.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366760" y="960120"/>
            <a:ext cx="2240280" cy="2240280"/>
          </a:xfrm>
          <a:prstGeom prst="ellipse">
            <a:avLst/>
          </a:prstGeom>
          <a:solidFill>
            <a:srgbClr val="EBF3FB"/>
          </a:solidFill>
          <a:ln w="10160">
            <a:solidFill>
              <a:srgbClr val="EBF3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418320" y="1965960"/>
            <a:ext cx="1600200" cy="1600200"/>
          </a:xfrm>
          <a:prstGeom prst="ellipse">
            <a:avLst/>
          </a:prstGeom>
          <a:solidFill>
            <a:srgbClr val="E5F6F5"/>
          </a:solidFill>
          <a:ln w="10160">
            <a:solidFill>
              <a:srgbClr val="E5F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635240" y="2788920"/>
            <a:ext cx="1143000" cy="1143000"/>
          </a:xfrm>
          <a:prstGeom prst="ellipse">
            <a:avLst/>
          </a:prstGeom>
          <a:solidFill>
            <a:srgbClr val="FCF6E8"/>
          </a:solidFill>
          <a:ln w="10160">
            <a:solidFill>
              <a:srgbClr val="FCF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" name="Connector 4"/>
          <p:cNvCxnSpPr/>
          <p:nvPr/>
        </p:nvCxnSpPr>
        <p:spPr>
          <a:xfrm>
            <a:off x="9052560" y="2011680"/>
            <a:ext cx="914400" cy="640080"/>
          </a:xfrm>
          <a:prstGeom prst="line">
            <a:avLst/>
          </a:prstGeom>
          <a:ln w="15240">
            <a:solidFill>
              <a:srgbClr val="365E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8321040" y="2743200"/>
            <a:ext cx="1463040" cy="365760"/>
          </a:xfrm>
          <a:prstGeom prst="line">
            <a:avLst/>
          </a:prstGeom>
          <a:ln w="15240">
            <a:solidFill>
              <a:srgbClr val="365E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8321040" y="2194560"/>
            <a:ext cx="1005840" cy="1005840"/>
          </a:xfrm>
          <a:prstGeom prst="line">
            <a:avLst/>
          </a:prstGeom>
          <a:ln w="15240">
            <a:solidFill>
              <a:srgbClr val="365E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875520" y="2743200"/>
            <a:ext cx="457200" cy="731520"/>
          </a:xfrm>
          <a:prstGeom prst="line">
            <a:avLst/>
          </a:prstGeom>
          <a:ln w="15240">
            <a:solidFill>
              <a:srgbClr val="365E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13232" y="777240"/>
            <a:ext cx="50292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100" b="1" i="0">
                <a:solidFill>
                  <a:srgbClr val="008991"/>
                </a:solidFill>
                <a:latin typeface="Aptos"/>
              </a:defRPr>
            </a:pPr>
            <a:r>
              <a:t>RESEARCH PAPER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417320"/>
            <a:ext cx="7223760" cy="1417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3100" b="1" i="0">
                <a:solidFill>
                  <a:srgbClr val="1A304E"/>
                </a:solidFill>
                <a:latin typeface="Aptos Display"/>
              </a:defRPr>
            </a:pPr>
            <a:r>
              <a:t>Specialized Decision Models</a:t>
            </a:r>
          </a:p>
          <a:p>
            <a:pPr algn="l">
              <a:spcAft>
                <a:spcPts val="300"/>
              </a:spcAft>
              <a:defRPr sz="3100" b="1" i="0">
                <a:solidFill>
                  <a:srgbClr val="1A304E"/>
                </a:solidFill>
                <a:latin typeface="Aptos Display"/>
              </a:defRPr>
            </a:pPr>
            <a:r>
              <a:t>vs. General-Purpose LLMs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063240"/>
            <a:ext cx="667512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2000" b="0" i="0">
                <a:solidFill>
                  <a:srgbClr val="365E91"/>
                </a:solidFill>
                <a:latin typeface="Aptos"/>
              </a:defRPr>
            </a:pPr>
            <a:r>
              <a:t>Benchmarking Jev Across Knowledge, Reasoning,</a:t>
            </a:r>
          </a:p>
          <a:p>
            <a:pPr algn="l">
              <a:spcAft>
                <a:spcPts val="300"/>
              </a:spcAft>
              <a:defRPr sz="2000" b="0" i="0">
                <a:solidFill>
                  <a:srgbClr val="365E91"/>
                </a:solidFill>
                <a:latin typeface="Aptos"/>
              </a:defRPr>
            </a:pPr>
            <a:r>
              <a:t>and Multilingual Tasks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9808" y="4251960"/>
            <a:ext cx="960120" cy="54864"/>
          </a:xfrm>
          <a:prstGeom prst="rect">
            <a:avLst/>
          </a:prstGeom>
          <a:solidFill>
            <a:srgbClr val="008991"/>
          </a:solidFill>
          <a:ln w="10160">
            <a:solidFill>
              <a:srgbClr val="0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49808" y="4617720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200" b="0" i="0">
                <a:solidFill>
                  <a:srgbClr val="667588"/>
                </a:solidFill>
                <a:latin typeface="Aptos"/>
              </a:defRPr>
            </a:pPr>
            <a:r>
              <a:t>Presented by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4882896"/>
            <a:ext cx="27432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2100" b="1" i="0">
                <a:solidFill>
                  <a:srgbClr val="1A304E"/>
                </a:solidFill>
                <a:latin typeface="Aptos"/>
              </a:defRPr>
            </a:pPr>
            <a:r>
              <a:t>Abirami J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5623560"/>
            <a:ext cx="6949440" cy="26161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100" b="0" i="0">
                <a:solidFill>
                  <a:srgbClr val="667588"/>
                </a:solidFill>
                <a:latin typeface="Aptos"/>
              </a:defRPr>
            </a:pPr>
            <a:r>
              <a:rPr b="1" dirty="0"/>
              <a:t>A</a:t>
            </a:r>
            <a:r>
              <a:rPr dirty="0"/>
              <a:t> </a:t>
            </a:r>
            <a:r>
              <a:rPr b="1" dirty="0"/>
              <a:t>comparative look at specialized decisions and general-purpose language models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38912"/>
            <a:ext cx="91440" cy="429768"/>
          </a:xfrm>
          <a:prstGeom prst="rect">
            <a:avLst/>
          </a:prstGeom>
          <a:solidFill>
            <a:srgbClr val="008991"/>
          </a:solidFill>
          <a:ln w="10160">
            <a:solidFill>
              <a:srgbClr val="0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49808" y="365760"/>
            <a:ext cx="107899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2600" b="1" i="0">
                <a:solidFill>
                  <a:srgbClr val="1A304E"/>
                </a:solidFill>
                <a:latin typeface="Aptos Display"/>
              </a:defRPr>
            </a:pPr>
            <a:r>
              <a:t>The Problem: Do All AI Decisions Need a General-Purpose LLM?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" y="914400"/>
            <a:ext cx="105156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900" b="1" i="0">
                <a:solidFill>
                  <a:srgbClr val="008991"/>
                </a:solidFill>
                <a:latin typeface="Aptos"/>
              </a:defRPr>
            </a:pPr>
            <a:r>
              <a:t>WHY THIS STUDY?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11155680" cy="10972"/>
          </a:xfrm>
          <a:prstGeom prst="rect">
            <a:avLst/>
          </a:prstGeom>
          <a:solidFill>
            <a:srgbClr val="DCE4ED"/>
          </a:solidFill>
          <a:ln w="10160"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225296"/>
            <a:ext cx="1069848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600" b="0" i="0">
                <a:solidFill>
                  <a:srgbClr val="2B3542"/>
                </a:solidFill>
                <a:latin typeface="Aptos"/>
              </a:defRPr>
            </a:pPr>
            <a:r>
              <a:t>The researchers explore whether every structured decision requires a broad, general-purpose language model.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920240"/>
            <a:ext cx="5074920" cy="2057400"/>
          </a:xfrm>
          <a:prstGeom prst="roundRect">
            <a:avLst>
              <a:gd name="adj" fmla="val 12000"/>
            </a:avLst>
          </a:prstGeom>
          <a:solidFill>
            <a:srgbClr val="EBF3FB"/>
          </a:solidFill>
          <a:ln w="10160"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86968" y="2093976"/>
            <a:ext cx="54864" cy="1709928"/>
          </a:xfrm>
          <a:prstGeom prst="rect">
            <a:avLst/>
          </a:prstGeom>
          <a:solidFill>
            <a:srgbClr val="365E91"/>
          </a:solidFill>
          <a:ln w="10160">
            <a:solidFill>
              <a:srgbClr val="365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42415" y="2075688"/>
            <a:ext cx="4636008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600" b="1" i="0">
                <a:solidFill>
                  <a:srgbClr val="1A304E"/>
                </a:solidFill>
                <a:latin typeface="Aptos"/>
              </a:defRPr>
            </a:pPr>
            <a:r>
              <a:t>General-purpose LLMs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5" y="2468880"/>
            <a:ext cx="4636008" cy="1399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400" b="0" i="0">
                <a:solidFill>
                  <a:srgbClr val="2B3542"/>
                </a:solidFill>
                <a:latin typeface="Aptos"/>
              </a:defRPr>
            </a:pPr>
            <a:r>
              <a:t>• Can handle many different tasks.</a:t>
            </a:r>
          </a:p>
          <a:p>
            <a:pPr algn="l">
              <a:spcAft>
                <a:spcPts val="300"/>
              </a:spcAft>
              <a:defRPr sz="1400" b="0" i="0">
                <a:solidFill>
                  <a:srgbClr val="2B3542"/>
                </a:solidFill>
                <a:latin typeface="Aptos"/>
              </a:defRPr>
            </a:pPr>
            <a:r>
              <a:t>• Are increasingly used for text classification and annotation.</a:t>
            </a:r>
          </a:p>
          <a:p>
            <a:pPr algn="l">
              <a:spcAft>
                <a:spcPts val="300"/>
              </a:spcAft>
              <a:defRPr sz="1400" b="0" i="0">
                <a:solidFill>
                  <a:srgbClr val="2B3542"/>
                </a:solidFill>
                <a:latin typeface="Aptos"/>
              </a:defRPr>
            </a:pPr>
            <a:r>
              <a:t>• May be more than what is needed for some simple, specific decisions.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44768" y="1920240"/>
            <a:ext cx="5074920" cy="2057400"/>
          </a:xfrm>
          <a:prstGeom prst="roundRect">
            <a:avLst>
              <a:gd name="adj" fmla="val 12000"/>
            </a:avLst>
          </a:prstGeom>
          <a:solidFill>
            <a:srgbClr val="E5F6F5"/>
          </a:solidFill>
          <a:ln w="10160"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81928" y="2093976"/>
            <a:ext cx="54864" cy="1709928"/>
          </a:xfrm>
          <a:prstGeom prst="rect">
            <a:avLst/>
          </a:prstGeom>
          <a:solidFill>
            <a:srgbClr val="008991"/>
          </a:solidFill>
          <a:ln w="10160">
            <a:solidFill>
              <a:srgbClr val="0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37376" y="2075688"/>
            <a:ext cx="4636008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600" b="1" i="0">
                <a:solidFill>
                  <a:srgbClr val="1A304E"/>
                </a:solidFill>
                <a:latin typeface="Aptos"/>
              </a:defRPr>
            </a:pPr>
            <a:r>
              <a:t>Specialized models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37376" y="2468880"/>
            <a:ext cx="4636008" cy="1399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400" b="0" i="0">
                <a:solidFill>
                  <a:srgbClr val="2B3542"/>
                </a:solidFill>
                <a:latin typeface="Aptos"/>
              </a:defRPr>
            </a:pPr>
            <a:r>
              <a:t>• Are designed or adapted for particular tasks.</a:t>
            </a:r>
          </a:p>
          <a:p>
            <a:pPr algn="l">
              <a:spcAft>
                <a:spcPts val="300"/>
              </a:spcAft>
              <a:defRPr sz="1400" b="0" i="0">
                <a:solidFill>
                  <a:srgbClr val="2B3542"/>
                </a:solidFill>
                <a:latin typeface="Aptos"/>
              </a:defRPr>
            </a:pPr>
            <a:r>
              <a:t>• Can perform better on certain tasks, even when smaller.</a:t>
            </a:r>
          </a:p>
          <a:p>
            <a:pPr algn="l">
              <a:spcAft>
                <a:spcPts val="300"/>
              </a:spcAft>
              <a:defRPr sz="1400" b="0" i="0">
                <a:solidFill>
                  <a:srgbClr val="2B3542"/>
                </a:solidFill>
                <a:latin typeface="Aptos"/>
              </a:defRPr>
            </a:pPr>
            <a:r>
              <a:t>• May be suitable alternatives for specific decisions.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0120" y="4434840"/>
            <a:ext cx="10241280" cy="1188720"/>
          </a:xfrm>
          <a:prstGeom prst="roundRect">
            <a:avLst>
              <a:gd name="adj" fmla="val 12000"/>
            </a:avLst>
          </a:prstGeom>
          <a:solidFill>
            <a:srgbClr val="F7F9FC"/>
          </a:solidFill>
          <a:ln w="10160"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188720" y="4645152"/>
            <a:ext cx="1783080" cy="292608"/>
          </a:xfrm>
          <a:prstGeom prst="roundRect">
            <a:avLst>
              <a:gd name="adj" fmla="val 12000"/>
            </a:avLst>
          </a:prstGeom>
          <a:solidFill>
            <a:srgbClr val="FCF6E8"/>
          </a:solidFill>
          <a:ln w="10160">
            <a:solidFill>
              <a:srgbClr val="FCF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216152" y="4668012"/>
            <a:ext cx="1728216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  <a:defRPr sz="900" b="1" i="0">
                <a:solidFill>
                  <a:srgbClr val="966914"/>
                </a:solidFill>
                <a:latin typeface="Aptos"/>
              </a:defRPr>
            </a:pPr>
            <a:r>
              <a:t>RESEARCH QUESTION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5010912"/>
            <a:ext cx="960120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700" b="1" i="0">
                <a:solidFill>
                  <a:srgbClr val="1A304E"/>
                </a:solidFill>
                <a:latin typeface="Aptos"/>
              </a:defRPr>
            </a:pPr>
            <a:r>
              <a:t>Can a specialized decision model like Jev handle certain decisions effectively without needing a general-purpose LLM every time?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38912"/>
            <a:ext cx="91440" cy="429768"/>
          </a:xfrm>
          <a:prstGeom prst="rect">
            <a:avLst/>
          </a:prstGeom>
          <a:solidFill>
            <a:srgbClr val="008991"/>
          </a:solidFill>
          <a:ln w="10160">
            <a:solidFill>
              <a:srgbClr val="0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49808" y="365760"/>
            <a:ext cx="107899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2600" b="1" i="0">
                <a:solidFill>
                  <a:srgbClr val="1A304E"/>
                </a:solidFill>
                <a:latin typeface="Aptos Display"/>
              </a:defRPr>
            </a:pPr>
            <a:r>
              <a:t>Meet Jev: A System 1 Decision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11155680" cy="10972"/>
          </a:xfrm>
          <a:prstGeom prst="rect">
            <a:avLst/>
          </a:prstGeom>
          <a:solidFill>
            <a:srgbClr val="DCE4ED"/>
          </a:solidFill>
          <a:ln w="10160"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04672" y="1030147"/>
            <a:ext cx="2852927" cy="455753"/>
          </a:xfrm>
          <a:prstGeom prst="roundRect">
            <a:avLst>
              <a:gd name="adj" fmla="val 12000"/>
            </a:avLst>
          </a:prstGeom>
          <a:solidFill>
            <a:srgbClr val="E5F6F5"/>
          </a:solidFill>
          <a:ln w="10160">
            <a:solidFill>
              <a:srgbClr val="E5F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43568" y="1127218"/>
            <a:ext cx="2366791" cy="26161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  <a:defRPr sz="900" b="1" i="0">
                <a:solidFill>
                  <a:srgbClr val="008991"/>
                </a:solidFill>
                <a:latin typeface="Aptos"/>
              </a:defRPr>
            </a:pPr>
            <a:r>
              <a:rPr sz="1100" dirty="0"/>
              <a:t>SPECIALIZED DECISION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1572768"/>
            <a:ext cx="676656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2100" b="1" i="0">
                <a:solidFill>
                  <a:srgbClr val="365E91"/>
                </a:solidFill>
                <a:latin typeface="Aptos"/>
              </a:defRPr>
            </a:pPr>
            <a:r>
              <a:t>A specialized System 1 decision 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103120"/>
            <a:ext cx="384048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700" b="1" i="0">
                <a:solidFill>
                  <a:srgbClr val="1A304E"/>
                </a:solidFill>
                <a:latin typeface="Aptos"/>
              </a:defRPr>
            </a:pPr>
            <a:r>
              <a:t>What is Jev?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2487168"/>
            <a:ext cx="5989320" cy="199131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2B3542"/>
                </a:solidFill>
                <a:latin typeface="Aptos"/>
              </a:defRPr>
            </a:pPr>
            <a:r>
              <a:rPr sz="1600" b="1" dirty="0">
                <a:solidFill>
                  <a:srgbClr val="008991"/>
                </a:solidFill>
                <a:latin typeface="Aptos"/>
              </a:rPr>
              <a:t>•  </a:t>
            </a:r>
            <a:r>
              <a:rPr sz="1600" b="1" dirty="0" err="1">
                <a:solidFill>
                  <a:srgbClr val="2B3542"/>
                </a:solidFill>
                <a:latin typeface="Aptos"/>
              </a:rPr>
              <a:t>Jev</a:t>
            </a:r>
            <a:r>
              <a:rPr sz="1600" b="1" dirty="0">
                <a:solidFill>
                  <a:srgbClr val="2B3542"/>
                </a:solidFill>
                <a:latin typeface="Aptos"/>
              </a:rPr>
              <a:t> is a specialized decision model designed to answer structured questions about an input.</a:t>
            </a:r>
          </a:p>
          <a:p>
            <a:pPr>
              <a:spcAft>
                <a:spcPts val="900"/>
              </a:spcAft>
              <a:defRPr sz="1400">
                <a:solidFill>
                  <a:srgbClr val="2B3542"/>
                </a:solidFill>
                <a:latin typeface="Aptos"/>
              </a:defRPr>
            </a:pPr>
            <a:r>
              <a:rPr sz="1600" b="1" dirty="0">
                <a:solidFill>
                  <a:srgbClr val="008991"/>
                </a:solidFill>
                <a:latin typeface="Aptos"/>
              </a:rPr>
              <a:t>•  </a:t>
            </a:r>
            <a:r>
              <a:rPr sz="1600" b="1" dirty="0">
                <a:solidFill>
                  <a:srgbClr val="2B3542"/>
                </a:solidFill>
                <a:latin typeface="Aptos"/>
              </a:rPr>
              <a:t>It follows a System 1 approach — making direct, intuitive decisions rather than relying on deliberate, step-by-step reasoning.</a:t>
            </a:r>
          </a:p>
          <a:p>
            <a:pPr>
              <a:spcAft>
                <a:spcPts val="900"/>
              </a:spcAft>
              <a:defRPr sz="1400">
                <a:solidFill>
                  <a:srgbClr val="2B3542"/>
                </a:solidFill>
                <a:latin typeface="Aptos"/>
              </a:defRPr>
            </a:pPr>
            <a:r>
              <a:rPr sz="1600" b="1" dirty="0">
                <a:solidFill>
                  <a:srgbClr val="008991"/>
                </a:solidFill>
                <a:latin typeface="Aptos"/>
              </a:rPr>
              <a:t>•  </a:t>
            </a:r>
            <a:r>
              <a:rPr sz="1600" b="1" dirty="0">
                <a:solidFill>
                  <a:srgbClr val="2B3542"/>
                </a:solidFill>
                <a:latin typeface="Aptos"/>
              </a:rPr>
              <a:t>It is designed for specific decision-making tasks rather than general-purpose text generation.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14032" y="1243584"/>
            <a:ext cx="384048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900" b="1" i="0">
                <a:solidFill>
                  <a:srgbClr val="1A304E"/>
                </a:solidFill>
                <a:latin typeface="Aptos"/>
              </a:defRPr>
            </a:pPr>
            <a:r>
              <a:t>Key features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95744" y="1719072"/>
            <a:ext cx="4251960" cy="1051560"/>
          </a:xfrm>
          <a:prstGeom prst="roundRect">
            <a:avLst>
              <a:gd name="adj" fmla="val 12000"/>
            </a:avLst>
          </a:prstGeom>
          <a:solidFill>
            <a:srgbClr val="E5F6F5"/>
          </a:solidFill>
          <a:ln w="10160"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232904" y="1892807"/>
            <a:ext cx="54864" cy="704087"/>
          </a:xfrm>
          <a:prstGeom prst="rect">
            <a:avLst/>
          </a:prstGeom>
          <a:solidFill>
            <a:srgbClr val="008991"/>
          </a:solidFill>
          <a:ln w="10160">
            <a:solidFill>
              <a:srgbClr val="0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88352" y="1874519"/>
            <a:ext cx="3813048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500" b="1" i="0">
                <a:solidFill>
                  <a:srgbClr val="1A304E"/>
                </a:solidFill>
                <a:latin typeface="Aptos"/>
              </a:defRPr>
            </a:pPr>
            <a:r>
              <a:t>Choice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88352" y="2267712"/>
            <a:ext cx="3813048" cy="39319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300" b="0" i="0">
                <a:solidFill>
                  <a:srgbClr val="2B3542"/>
                </a:solidFill>
                <a:latin typeface="Aptos"/>
              </a:defRPr>
            </a:pPr>
            <a:r>
              <a:t>Selects one option from up to 255 candidates.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095744" y="2953512"/>
            <a:ext cx="4251960" cy="1051560"/>
          </a:xfrm>
          <a:prstGeom prst="roundRect">
            <a:avLst>
              <a:gd name="adj" fmla="val 12000"/>
            </a:avLst>
          </a:prstGeom>
          <a:solidFill>
            <a:srgbClr val="EBF3FB"/>
          </a:solidFill>
          <a:ln w="10160"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232904" y="3127248"/>
            <a:ext cx="54864" cy="704087"/>
          </a:xfrm>
          <a:prstGeom prst="rect">
            <a:avLst/>
          </a:prstGeom>
          <a:solidFill>
            <a:srgbClr val="365E91"/>
          </a:solidFill>
          <a:ln w="10160">
            <a:solidFill>
              <a:srgbClr val="365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88352" y="3108960"/>
            <a:ext cx="3813048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500" b="1" i="0">
                <a:solidFill>
                  <a:srgbClr val="1A304E"/>
                </a:solidFill>
                <a:latin typeface="Aptos"/>
              </a:defRPr>
            </a:pPr>
            <a:r>
              <a:t>Score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88352" y="3502152"/>
            <a:ext cx="3813048" cy="39319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300" b="0" i="0">
                <a:solidFill>
                  <a:srgbClr val="2B3542"/>
                </a:solidFill>
                <a:latin typeface="Aptos"/>
              </a:defRPr>
            </a:pPr>
            <a:r>
              <a:t>Rates an input using an ordered scoring scale.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095744" y="4187952"/>
            <a:ext cx="4251960" cy="1051560"/>
          </a:xfrm>
          <a:prstGeom prst="roundRect">
            <a:avLst>
              <a:gd name="adj" fmla="val 12000"/>
            </a:avLst>
          </a:prstGeom>
          <a:solidFill>
            <a:srgbClr val="FCF6E8"/>
          </a:solidFill>
          <a:ln w="10160"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232904" y="4361688"/>
            <a:ext cx="54864" cy="704087"/>
          </a:xfrm>
          <a:prstGeom prst="rect">
            <a:avLst/>
          </a:prstGeom>
          <a:solidFill>
            <a:srgbClr val="DDA43E"/>
          </a:solidFill>
          <a:ln w="10160">
            <a:solidFill>
              <a:srgbClr val="DDA4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388352" y="4343400"/>
            <a:ext cx="3813048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500" b="1" i="0">
                <a:solidFill>
                  <a:srgbClr val="1A304E"/>
                </a:solidFill>
                <a:latin typeface="Aptos"/>
              </a:defRPr>
            </a:pPr>
            <a:r>
              <a:t>Noul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88352" y="4736592"/>
            <a:ext cx="3813048" cy="39319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300" b="0" i="0">
                <a:solidFill>
                  <a:srgbClr val="2B3542"/>
                </a:solidFill>
                <a:latin typeface="Aptos"/>
              </a:defRPr>
            </a:pPr>
            <a:r>
              <a:t>Estimates the probability of a yes/no statement.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38912"/>
            <a:ext cx="91440" cy="429768"/>
          </a:xfrm>
          <a:prstGeom prst="rect">
            <a:avLst/>
          </a:prstGeom>
          <a:solidFill>
            <a:srgbClr val="008991"/>
          </a:solidFill>
          <a:ln w="10160">
            <a:solidFill>
              <a:srgbClr val="0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49808" y="365760"/>
            <a:ext cx="107899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2600" b="1" i="0">
                <a:solidFill>
                  <a:srgbClr val="1A304E"/>
                </a:solidFill>
                <a:latin typeface="Aptos Display"/>
              </a:defRPr>
            </a:pPr>
            <a:r>
              <a:t>Research Objective and Key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" y="914400"/>
            <a:ext cx="105156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900" b="1" i="0">
                <a:solidFill>
                  <a:srgbClr val="008991"/>
                </a:solidFill>
                <a:latin typeface="Aptos"/>
              </a:defRPr>
            </a:pPr>
            <a:r>
              <a:t>WHAT THE STUDY INVESTIGATES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11155680" cy="10972"/>
          </a:xfrm>
          <a:prstGeom prst="rect">
            <a:avLst/>
          </a:prstGeom>
          <a:solidFill>
            <a:srgbClr val="DCE4ED"/>
          </a:solidFill>
          <a:ln w="10160"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064240" y="6492240"/>
            <a:ext cx="50292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  <a:defRPr sz="900" b="0" i="0">
                <a:solidFill>
                  <a:srgbClr val="667588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8096" y="1225296"/>
            <a:ext cx="10652760" cy="1078992"/>
          </a:xfrm>
          <a:prstGeom prst="roundRect">
            <a:avLst>
              <a:gd name="adj" fmla="val 12000"/>
            </a:avLst>
          </a:prstGeom>
          <a:solidFill>
            <a:srgbClr val="EBF3FB"/>
          </a:solidFill>
          <a:ln w="10160">
            <a:solidFill>
              <a:srgbClr val="EBF3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1426464"/>
            <a:ext cx="1828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500" b="1" i="0">
                <a:solidFill>
                  <a:srgbClr val="365E91"/>
                </a:solidFill>
                <a:latin typeface="Aptos"/>
              </a:defRPr>
            </a:pPr>
            <a:r>
              <a:t>Main objective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88920" y="1389888"/>
            <a:ext cx="8183879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700" b="1" i="0">
                <a:solidFill>
                  <a:srgbClr val="1A304E"/>
                </a:solidFill>
                <a:latin typeface="Aptos"/>
              </a:defRPr>
            </a:pPr>
            <a:r>
              <a:t>To evaluate how Jev performs compared with 19 general-purpose LLMs across knowledge, reasoning, and multilingual tasks.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" y="2670048"/>
            <a:ext cx="5074920" cy="1170432"/>
          </a:xfrm>
          <a:prstGeom prst="roundRect">
            <a:avLst>
              <a:gd name="adj" fmla="val 12000"/>
            </a:avLst>
          </a:prstGeom>
          <a:solidFill>
            <a:srgbClr val="F7F9FC"/>
          </a:solidFill>
          <a:ln w="10160"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969264" y="2871216"/>
            <a:ext cx="530352" cy="530352"/>
          </a:xfrm>
          <a:prstGeom prst="ellipse">
            <a:avLst/>
          </a:prstGeom>
          <a:solidFill>
            <a:srgbClr val="008991"/>
          </a:solidFill>
          <a:ln w="10160">
            <a:solidFill>
              <a:srgbClr val="0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9264" y="2935224"/>
            <a:ext cx="530352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  <a:defRPr sz="1500" b="1" i="0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55064" y="2834640"/>
            <a:ext cx="38862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500" b="1" i="0">
                <a:solidFill>
                  <a:srgbClr val="1A304E"/>
                </a:solidFill>
                <a:latin typeface="Aptos"/>
              </a:defRPr>
            </a:pPr>
            <a:r>
              <a:t>Knowledge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55064" y="3154680"/>
            <a:ext cx="38862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150" b="0" i="0">
                <a:solidFill>
                  <a:srgbClr val="2B3542"/>
                </a:solidFill>
                <a:latin typeface="Aptos"/>
              </a:defRPr>
            </a:pPr>
            <a:r>
              <a:t>Can Jev perform as well as general-purpose LLMs on knowledge-based questions?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2670048"/>
            <a:ext cx="5074920" cy="1170432"/>
          </a:xfrm>
          <a:prstGeom prst="roundRect">
            <a:avLst>
              <a:gd name="adj" fmla="val 12000"/>
            </a:avLst>
          </a:prstGeom>
          <a:solidFill>
            <a:srgbClr val="F7F9FC"/>
          </a:solidFill>
          <a:ln w="10160"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6355080" y="2871216"/>
            <a:ext cx="530352" cy="530352"/>
          </a:xfrm>
          <a:prstGeom prst="ellipse">
            <a:avLst/>
          </a:prstGeom>
          <a:solidFill>
            <a:srgbClr val="365E91"/>
          </a:solidFill>
          <a:ln w="10160">
            <a:solidFill>
              <a:srgbClr val="365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55080" y="2935224"/>
            <a:ext cx="530352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  <a:defRPr sz="1500" b="1" i="0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2834640"/>
            <a:ext cx="38862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500" b="1" i="0">
                <a:solidFill>
                  <a:srgbClr val="1A304E"/>
                </a:solidFill>
                <a:latin typeface="Aptos"/>
              </a:defRPr>
            </a:pPr>
            <a:r>
              <a:t>Reasoning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0" y="3154680"/>
            <a:ext cx="38862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150" b="0" i="0">
                <a:solidFill>
                  <a:srgbClr val="2B3542"/>
                </a:solidFill>
                <a:latin typeface="Aptos"/>
              </a:defRPr>
            </a:pPr>
            <a:r>
              <a:t>How does Jev perform on tasks requiring mathematical calculations and multi-step reasoning?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6384" y="4096512"/>
            <a:ext cx="5074920" cy="1170432"/>
          </a:xfrm>
          <a:prstGeom prst="roundRect">
            <a:avLst>
              <a:gd name="adj" fmla="val 12000"/>
            </a:avLst>
          </a:prstGeom>
          <a:solidFill>
            <a:srgbClr val="F7F9FC"/>
          </a:solidFill>
          <a:ln w="10160"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969264" y="4297680"/>
            <a:ext cx="530352" cy="530352"/>
          </a:xfrm>
          <a:prstGeom prst="ellipse">
            <a:avLst/>
          </a:prstGeom>
          <a:solidFill>
            <a:srgbClr val="DDA43E"/>
          </a:solidFill>
          <a:ln w="10160">
            <a:solidFill>
              <a:srgbClr val="DDA4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69264" y="4361688"/>
            <a:ext cx="530352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  <a:defRPr sz="1500" b="1" i="0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55064" y="4261104"/>
            <a:ext cx="38862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500" b="1" i="0">
                <a:solidFill>
                  <a:srgbClr val="1A304E"/>
                </a:solidFill>
                <a:latin typeface="Aptos"/>
              </a:defRPr>
            </a:pPr>
            <a:r>
              <a:t>Multilingual ability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55064" y="4581144"/>
            <a:ext cx="38862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150" b="0" i="0">
                <a:solidFill>
                  <a:srgbClr val="2B3542"/>
                </a:solidFill>
                <a:latin typeface="Aptos"/>
              </a:defRPr>
            </a:pPr>
            <a:r>
              <a:t>How well does Jev handle questions across different languages?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4096512"/>
            <a:ext cx="5074920" cy="1170432"/>
          </a:xfrm>
          <a:prstGeom prst="roundRect">
            <a:avLst>
              <a:gd name="adj" fmla="val 12000"/>
            </a:avLst>
          </a:prstGeom>
          <a:solidFill>
            <a:srgbClr val="F7F9FC"/>
          </a:solidFill>
          <a:ln w="10160"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6355080" y="4297680"/>
            <a:ext cx="530352" cy="530352"/>
          </a:xfrm>
          <a:prstGeom prst="ellipse">
            <a:avLst/>
          </a:prstGeom>
          <a:solidFill>
            <a:srgbClr val="337E5F"/>
          </a:solidFill>
          <a:ln w="10160">
            <a:solidFill>
              <a:srgbClr val="337E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355080" y="4361688"/>
            <a:ext cx="530352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  <a:defRPr sz="1500" b="1" i="0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40880" y="4261104"/>
            <a:ext cx="38862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500" b="1" i="0">
                <a:solidFill>
                  <a:srgbClr val="1A304E"/>
                </a:solidFill>
                <a:latin typeface="Aptos"/>
              </a:defRPr>
            </a:pPr>
            <a:r>
              <a:t>Practical use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0880" y="4581144"/>
            <a:ext cx="38862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150" b="0" i="0">
                <a:solidFill>
                  <a:srgbClr val="2B3542"/>
                </a:solidFill>
                <a:latin typeface="Aptos"/>
              </a:defRPr>
            </a:pPr>
            <a:r>
              <a:t>Which types of decisions can Jev handle effectively on its own?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" y="5623560"/>
            <a:ext cx="1042416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400" b="1" i="0">
                <a:solidFill>
                  <a:srgbClr val="008991"/>
                </a:solidFill>
                <a:latin typeface="Aptos"/>
              </a:defRPr>
            </a:pPr>
            <a:r>
              <a:t>Overall goal: Identify Jev's strengths and limitations to understand where a specialized decision model may be useful.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38912"/>
            <a:ext cx="91440" cy="429768"/>
          </a:xfrm>
          <a:prstGeom prst="rect">
            <a:avLst/>
          </a:prstGeom>
          <a:solidFill>
            <a:srgbClr val="008991"/>
          </a:solidFill>
          <a:ln w="10160">
            <a:solidFill>
              <a:srgbClr val="0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49808" y="365760"/>
            <a:ext cx="107899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2600" b="1" i="0">
                <a:solidFill>
                  <a:srgbClr val="1A304E"/>
                </a:solidFill>
                <a:latin typeface="Aptos Display"/>
              </a:defRPr>
            </a:pPr>
            <a:r>
              <a:t>Understanding the 13 Benchmarks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" y="914400"/>
            <a:ext cx="105156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900" b="1" i="0">
                <a:solidFill>
                  <a:srgbClr val="008991"/>
                </a:solidFill>
                <a:latin typeface="Aptos"/>
              </a:defRPr>
            </a:pPr>
            <a:r>
              <a:t>HOW JEV IS TESTED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11155680" cy="10972"/>
          </a:xfrm>
          <a:prstGeom prst="rect">
            <a:avLst/>
          </a:prstGeom>
          <a:solidFill>
            <a:srgbClr val="DCE4ED"/>
          </a:solidFill>
          <a:ln w="10160"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064240" y="6492240"/>
            <a:ext cx="50292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  <a:defRPr sz="900" b="0" i="0">
                <a:solidFill>
                  <a:srgbClr val="667588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170432"/>
            <a:ext cx="106070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500" b="0" i="0">
                <a:solidFill>
                  <a:srgbClr val="2B3542"/>
                </a:solidFill>
                <a:latin typeface="Aptos"/>
              </a:defRPr>
            </a:pPr>
            <a:r>
              <a:t>A benchmark is a standardized set of questions used to evaluate and compare models.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8952" y="1783080"/>
            <a:ext cx="3154680" cy="3401568"/>
          </a:xfrm>
          <a:prstGeom prst="roundRect">
            <a:avLst>
              <a:gd name="adj" fmla="val 12000"/>
            </a:avLst>
          </a:prstGeom>
          <a:solidFill>
            <a:srgbClr val="EBF3FB"/>
          </a:solidFill>
          <a:ln w="10160"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2011680"/>
            <a:ext cx="86868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3700" b="1" i="0">
                <a:solidFill>
                  <a:srgbClr val="365E91"/>
                </a:solidFill>
                <a:latin typeface="Aptos Display"/>
              </a:defRPr>
            </a:pPr>
            <a:r>
              <a:t>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46504" y="2258568"/>
            <a:ext cx="16916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000" b="1" i="0">
                <a:solidFill>
                  <a:srgbClr val="667588"/>
                </a:solidFill>
                <a:latin typeface="Aptos"/>
              </a:defRPr>
            </a:pPr>
            <a:r>
              <a:t>BENCHMARKS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2862072"/>
            <a:ext cx="269748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900" b="1" i="0">
                <a:solidFill>
                  <a:srgbClr val="1A304E"/>
                </a:solidFill>
                <a:latin typeface="Aptos"/>
              </a:defRPr>
            </a:pPr>
            <a:r>
              <a:t>Knowledge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" y="3364992"/>
            <a:ext cx="269748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300" b="0" i="0">
                <a:solidFill>
                  <a:srgbClr val="2B3542"/>
                </a:solidFill>
                <a:latin typeface="Aptos"/>
              </a:defRPr>
            </a:pPr>
            <a:r>
              <a:t>Tests academic knowledge, commonsense, and understanding of information.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87552" y="4233672"/>
            <a:ext cx="502920" cy="41148"/>
          </a:xfrm>
          <a:prstGeom prst="rect">
            <a:avLst/>
          </a:prstGeom>
          <a:solidFill>
            <a:srgbClr val="365E91"/>
          </a:solidFill>
          <a:ln w="10160">
            <a:solidFill>
              <a:srgbClr val="365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87552" y="4384351"/>
            <a:ext cx="2697480" cy="64633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050" b="0" i="0">
                <a:solidFill>
                  <a:srgbClr val="667588"/>
                </a:solidFill>
                <a:latin typeface="Aptos"/>
              </a:defRPr>
            </a:pPr>
            <a:r>
              <a:rPr sz="12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Examples: MMLU, </a:t>
            </a:r>
            <a:r>
              <a:rPr lang="en-US" sz="1200" b="1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MMLU </a:t>
            </a:r>
            <a:r>
              <a:rPr lang="en-US" sz="1200" b="1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Redux</a:t>
            </a:r>
            <a:r>
              <a:rPr lang="en-US" sz="1200" b="1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, MMLU Pro , </a:t>
            </a:r>
            <a:r>
              <a:rPr sz="1200" b="1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GPQA </a:t>
            </a:r>
            <a:r>
              <a:rPr sz="12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Diamond</a:t>
            </a:r>
            <a:r>
              <a:rPr sz="1200" b="1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,</a:t>
            </a:r>
            <a:r>
              <a:rPr lang="en-US" sz="1200" b="1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C- </a:t>
            </a:r>
            <a:r>
              <a:rPr lang="en-US" sz="1200" b="1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Eval</a:t>
            </a:r>
            <a:r>
              <a:rPr lang="en-US" sz="1200" b="1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, </a:t>
            </a:r>
            <a:r>
              <a:rPr lang="en-US" sz="1200" b="1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WindoGrande</a:t>
            </a:r>
            <a:r>
              <a:rPr lang="en-US" sz="1200" b="1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,</a:t>
            </a:r>
            <a:r>
              <a:rPr sz="1200" b="1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sz="1200" b="1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TruthfulQA</a:t>
            </a:r>
            <a:endParaRPr sz="12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4526280" y="1783080"/>
            <a:ext cx="3154680" cy="3401568"/>
          </a:xfrm>
          <a:prstGeom prst="roundRect">
            <a:avLst>
              <a:gd name="adj" fmla="val 12000"/>
            </a:avLst>
          </a:prstGeom>
          <a:solidFill>
            <a:srgbClr val="E5F6F5"/>
          </a:solidFill>
          <a:ln w="10160"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727448" y="2011680"/>
            <a:ext cx="86868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3700" b="1" i="0">
                <a:solidFill>
                  <a:srgbClr val="008991"/>
                </a:solidFill>
                <a:latin typeface="Aptos Display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13832" y="2258568"/>
            <a:ext cx="16916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000" b="1" i="0">
                <a:solidFill>
                  <a:srgbClr val="667588"/>
                </a:solidFill>
                <a:latin typeface="Aptos"/>
              </a:defRPr>
            </a:pPr>
            <a:r>
              <a:t>BENCHMARKS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2862072"/>
            <a:ext cx="269748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900" b="1" i="0">
                <a:solidFill>
                  <a:srgbClr val="1A304E"/>
                </a:solidFill>
                <a:latin typeface="Aptos"/>
              </a:defRPr>
            </a:pPr>
            <a:r>
              <a:t>Reasoning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3364992"/>
            <a:ext cx="269748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300" b="0" i="0">
                <a:solidFill>
                  <a:srgbClr val="2B3542"/>
                </a:solidFill>
                <a:latin typeface="Aptos"/>
              </a:defRPr>
            </a:pPr>
            <a:r>
              <a:t>Tests problem-solving, mathematical calculations, and multi-step reasoning.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54880" y="4208461"/>
            <a:ext cx="502920" cy="41148"/>
          </a:xfrm>
          <a:prstGeom prst="rect">
            <a:avLst/>
          </a:prstGeom>
          <a:solidFill>
            <a:srgbClr val="008991"/>
          </a:solidFill>
          <a:ln w="10160">
            <a:solidFill>
              <a:srgbClr val="0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754880" y="4476682"/>
            <a:ext cx="2697480" cy="46166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050" b="0" i="0">
                <a:solidFill>
                  <a:srgbClr val="667588"/>
                </a:solidFill>
                <a:latin typeface="Aptos"/>
              </a:defRPr>
            </a:pPr>
            <a:r>
              <a:rPr sz="12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Examples: ARC-Challenge, </a:t>
            </a:r>
            <a:r>
              <a:rPr sz="12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MathQA</a:t>
            </a:r>
            <a:r>
              <a:rPr sz="12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, </a:t>
            </a:r>
            <a:r>
              <a:rPr sz="12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AQuA</a:t>
            </a:r>
            <a:r>
              <a:rPr sz="12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-RAT.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93608" y="1783080"/>
            <a:ext cx="3154680" cy="3401568"/>
          </a:xfrm>
          <a:prstGeom prst="roundRect">
            <a:avLst>
              <a:gd name="adj" fmla="val 12000"/>
            </a:avLst>
          </a:prstGeom>
          <a:solidFill>
            <a:srgbClr val="FCF6E8"/>
          </a:solidFill>
          <a:ln w="10160"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494776" y="2011680"/>
            <a:ext cx="86868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3700" b="1" i="0">
                <a:solidFill>
                  <a:srgbClr val="DDA43E"/>
                </a:solidFill>
                <a:latin typeface="Aptos Display"/>
              </a:defRPr>
            </a:pPr>
            <a: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81160" y="2258568"/>
            <a:ext cx="16916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000" b="1" i="0">
                <a:solidFill>
                  <a:srgbClr val="667588"/>
                </a:solidFill>
                <a:latin typeface="Aptos"/>
              </a:defRPr>
            </a:pPr>
            <a:r>
              <a:t>BENCHMARKS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22208" y="2862072"/>
            <a:ext cx="269748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900" b="1" i="0">
                <a:solidFill>
                  <a:srgbClr val="1A304E"/>
                </a:solidFill>
                <a:latin typeface="Aptos"/>
              </a:defRPr>
            </a:pPr>
            <a:r>
              <a:t>Multilingual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22208" y="3364992"/>
            <a:ext cx="269748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300" b="0" i="0">
                <a:solidFill>
                  <a:srgbClr val="2B3542"/>
                </a:solidFill>
                <a:latin typeface="Aptos"/>
              </a:defRPr>
            </a:pPr>
            <a:r>
              <a:t>Tests performance across multiple languages.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491913" y="4167313"/>
            <a:ext cx="502920" cy="41148"/>
          </a:xfrm>
          <a:prstGeom prst="rect">
            <a:avLst/>
          </a:prstGeom>
          <a:solidFill>
            <a:srgbClr val="DDA43E"/>
          </a:solidFill>
          <a:ln w="10160">
            <a:solidFill>
              <a:srgbClr val="DDA4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522208" y="4384348"/>
            <a:ext cx="2697480" cy="64633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050" b="0" i="0">
                <a:solidFill>
                  <a:srgbClr val="667588"/>
                </a:solidFill>
                <a:latin typeface="Aptos"/>
              </a:defRPr>
            </a:pPr>
            <a:r>
              <a:rPr sz="12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Examples: MMLU-</a:t>
            </a:r>
            <a:r>
              <a:rPr sz="12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ProX</a:t>
            </a:r>
            <a:r>
              <a:rPr sz="12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(29 languages) and MMMLU (14 languages).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4400" y="5440680"/>
            <a:ext cx="10287000" cy="685800"/>
          </a:xfrm>
          <a:prstGeom prst="roundRect">
            <a:avLst>
              <a:gd name="adj" fmla="val 12000"/>
            </a:avLst>
          </a:prstGeom>
          <a:solidFill>
            <a:srgbClr val="F7F9FC"/>
          </a:solidFill>
          <a:ln w="10160"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143000" y="5577840"/>
            <a:ext cx="19659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300" b="1" i="0">
                <a:solidFill>
                  <a:srgbClr val="008991"/>
                </a:solidFill>
                <a:latin typeface="Aptos"/>
              </a:defRPr>
            </a:pPr>
            <a:r>
              <a:t>Why these benchmarks?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154680" y="5559552"/>
            <a:ext cx="763524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250" b="0" i="0">
                <a:solidFill>
                  <a:srgbClr val="2B3542"/>
                </a:solidFill>
                <a:latin typeface="Aptos"/>
              </a:defRPr>
            </a:pPr>
            <a:r>
              <a:t>They allow researchers to compare Jev and general-purpose LLMs across different capabilities using standardized question sets.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38912"/>
            <a:ext cx="91440" cy="429768"/>
          </a:xfrm>
          <a:prstGeom prst="rect">
            <a:avLst/>
          </a:prstGeom>
          <a:solidFill>
            <a:srgbClr val="008991"/>
          </a:solidFill>
          <a:ln w="10160">
            <a:solidFill>
              <a:srgbClr val="0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49808" y="365760"/>
            <a:ext cx="107899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2600" b="1" i="0">
                <a:solidFill>
                  <a:srgbClr val="1A304E"/>
                </a:solidFill>
                <a:latin typeface="Aptos Display"/>
              </a:defRPr>
            </a:pPr>
            <a:r>
              <a:t>The 19 LLMs: Three Tiers of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" y="914400"/>
            <a:ext cx="105156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900" b="1" i="0">
                <a:solidFill>
                  <a:srgbClr val="008991"/>
                </a:solidFill>
                <a:latin typeface="Aptos"/>
              </a:defRPr>
            </a:pPr>
            <a:r>
              <a:t>COMPARISON GROUPS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11155680" cy="10972"/>
          </a:xfrm>
          <a:prstGeom prst="rect">
            <a:avLst/>
          </a:prstGeom>
          <a:solidFill>
            <a:srgbClr val="DCE4ED"/>
          </a:solidFill>
          <a:ln w="10160"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064240" y="6492240"/>
            <a:ext cx="50292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  <a:defRPr sz="900" b="0" i="0">
                <a:solidFill>
                  <a:srgbClr val="667588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161288"/>
            <a:ext cx="106070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500" b="0" i="0">
                <a:solidFill>
                  <a:srgbClr val="2B3542"/>
                </a:solidFill>
                <a:latin typeface="Aptos"/>
              </a:defRPr>
            </a:pPr>
            <a:r>
              <a:t>The models are grouped into three tiers for comparison with Jev.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691640"/>
            <a:ext cx="3182112" cy="4160520"/>
          </a:xfrm>
          <a:prstGeom prst="roundRect">
            <a:avLst>
              <a:gd name="adj" fmla="val 12000"/>
            </a:avLst>
          </a:prstGeom>
          <a:solidFill>
            <a:srgbClr val="EBF3FB"/>
          </a:solidFill>
          <a:ln w="10160"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78407" y="1920240"/>
            <a:ext cx="68580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3400" b="1" i="0">
                <a:solidFill>
                  <a:srgbClr val="365E91"/>
                </a:solidFill>
                <a:latin typeface="Aptos Display"/>
              </a:defRPr>
            </a:pPr>
            <a: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19" y="2139696"/>
            <a:ext cx="12801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000" b="1" i="0">
                <a:solidFill>
                  <a:srgbClr val="667588"/>
                </a:solidFill>
                <a:latin typeface="Aptos"/>
              </a:defRPr>
            </a:pPr>
            <a:r>
              <a:t>MODELS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7" y="2679192"/>
            <a:ext cx="269748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700" b="1" i="0">
                <a:solidFill>
                  <a:srgbClr val="1A304E"/>
                </a:solidFill>
                <a:latin typeface="Aptos"/>
              </a:defRPr>
            </a:pPr>
            <a:r>
              <a:t>Frontier LLMs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7" y="3108960"/>
            <a:ext cx="26974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200" b="0" i="0">
                <a:solidFill>
                  <a:srgbClr val="2B3542"/>
                </a:solidFill>
                <a:latin typeface="Aptos"/>
              </a:defRPr>
            </a:pPr>
            <a:r>
              <a:t>Recently released models.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78407" y="3703320"/>
            <a:ext cx="502920" cy="36576"/>
          </a:xfrm>
          <a:prstGeom prst="rect">
            <a:avLst/>
          </a:prstGeom>
          <a:solidFill>
            <a:srgbClr val="365E91"/>
          </a:solidFill>
          <a:ln w="10160">
            <a:solidFill>
              <a:srgbClr val="365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78407" y="3886200"/>
            <a:ext cx="2697480" cy="157735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150" b="0" i="0">
                <a:solidFill>
                  <a:srgbClr val="2B3542"/>
                </a:solidFill>
                <a:latin typeface="Aptos"/>
              </a:defRPr>
            </a:pPr>
            <a:r>
              <a:rPr sz="1400" b="1" dirty="0"/>
              <a:t>GPT-5.6 Sol</a:t>
            </a:r>
          </a:p>
          <a:p>
            <a:pPr algn="l">
              <a:spcAft>
                <a:spcPts val="300"/>
              </a:spcAft>
              <a:defRPr sz="1150" b="0" i="0">
                <a:solidFill>
                  <a:srgbClr val="2B3542"/>
                </a:solidFill>
                <a:latin typeface="Aptos"/>
              </a:defRPr>
            </a:pPr>
            <a:r>
              <a:rPr sz="1400" b="1" dirty="0"/>
              <a:t>Claude Opus 5.5</a:t>
            </a:r>
          </a:p>
          <a:p>
            <a:pPr algn="l">
              <a:spcAft>
                <a:spcPts val="300"/>
              </a:spcAft>
              <a:defRPr sz="1150" b="0" i="0">
                <a:solidFill>
                  <a:srgbClr val="2B3542"/>
                </a:solidFill>
                <a:latin typeface="Aptos"/>
              </a:defRPr>
            </a:pPr>
            <a:r>
              <a:rPr sz="1400" b="1" dirty="0"/>
              <a:t>Gemini 3.8 </a:t>
            </a:r>
            <a:r>
              <a:rPr sz="1400" b="1" dirty="0" smtClean="0"/>
              <a:t>Flash</a:t>
            </a:r>
            <a:endParaRPr lang="en-US" sz="1400" b="1" dirty="0" smtClean="0"/>
          </a:p>
          <a:p>
            <a:pPr algn="l">
              <a:spcAft>
                <a:spcPts val="300"/>
              </a:spcAft>
              <a:defRPr sz="1150" b="0" i="0">
                <a:solidFill>
                  <a:srgbClr val="2B3542"/>
                </a:solidFill>
                <a:latin typeface="Aptos"/>
              </a:defRPr>
            </a:pPr>
            <a:r>
              <a:rPr lang="en-US" sz="1400" b="1" dirty="0" err="1" smtClean="0"/>
              <a:t>Qwen</a:t>
            </a:r>
            <a:r>
              <a:rPr lang="en-US" sz="1400" b="1" dirty="0" smtClean="0"/>
              <a:t> 3.8 Flash </a:t>
            </a:r>
            <a:endParaRPr sz="1400" b="1" dirty="0"/>
          </a:p>
          <a:p>
            <a:pPr algn="l">
              <a:spcAft>
                <a:spcPts val="300"/>
              </a:spcAft>
              <a:defRPr sz="1150" b="0" i="0">
                <a:solidFill>
                  <a:srgbClr val="2B3542"/>
                </a:solidFill>
                <a:latin typeface="Aptos"/>
              </a:defRPr>
            </a:pPr>
            <a:r>
              <a:rPr sz="1400" b="1" dirty="0"/>
              <a:t>Qwen3.8-Max</a:t>
            </a:r>
          </a:p>
          <a:p>
            <a:pPr algn="l">
              <a:spcAft>
                <a:spcPts val="300"/>
              </a:spcAft>
              <a:defRPr sz="1150" b="0" i="0">
                <a:solidFill>
                  <a:srgbClr val="2B3542"/>
                </a:solidFill>
                <a:latin typeface="Aptos"/>
              </a:defRPr>
            </a:pPr>
            <a:r>
              <a:rPr sz="1400" b="1" dirty="0"/>
              <a:t>DeepSeek-V4.1-Flash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17136" y="1691640"/>
            <a:ext cx="3182112" cy="4160520"/>
          </a:xfrm>
          <a:prstGeom prst="roundRect">
            <a:avLst>
              <a:gd name="adj" fmla="val 12000"/>
            </a:avLst>
          </a:prstGeom>
          <a:solidFill>
            <a:srgbClr val="E5F6F5"/>
          </a:solidFill>
          <a:ln w="10160"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745736" y="1920240"/>
            <a:ext cx="68580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3400" b="1" i="0">
                <a:solidFill>
                  <a:srgbClr val="008991"/>
                </a:solidFill>
                <a:latin typeface="Aptos Display"/>
              </a:defRPr>
            </a:pPr>
            <a: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13248" y="2139696"/>
            <a:ext cx="12801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000" b="1" i="0">
                <a:solidFill>
                  <a:srgbClr val="667588"/>
                </a:solidFill>
                <a:latin typeface="Aptos"/>
              </a:defRPr>
            </a:pPr>
            <a:r>
              <a:t>MODELS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45736" y="2679192"/>
            <a:ext cx="269748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700" b="1" i="0">
                <a:solidFill>
                  <a:srgbClr val="1A304E"/>
                </a:solidFill>
                <a:latin typeface="Aptos"/>
              </a:defRPr>
            </a:pPr>
            <a:r>
              <a:t>Representative LLMs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45736" y="3108960"/>
            <a:ext cx="26974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200" b="0" i="0">
                <a:solidFill>
                  <a:srgbClr val="2B3542"/>
                </a:solidFill>
                <a:latin typeface="Aptos"/>
              </a:defRPr>
            </a:pPr>
            <a:r>
              <a:t>Widely used earlier models.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45736" y="3703320"/>
            <a:ext cx="502920" cy="36576"/>
          </a:xfrm>
          <a:prstGeom prst="rect">
            <a:avLst/>
          </a:prstGeom>
          <a:solidFill>
            <a:srgbClr val="008991"/>
          </a:solidFill>
          <a:ln w="10160">
            <a:solidFill>
              <a:srgbClr val="0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745736" y="3886200"/>
            <a:ext cx="2697480" cy="183127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150" b="0" i="0">
                <a:solidFill>
                  <a:srgbClr val="2B3542"/>
                </a:solidFill>
                <a:latin typeface="Aptos"/>
              </a:defRPr>
            </a:pPr>
            <a:r>
              <a:rPr sz="1400" b="1" dirty="0"/>
              <a:t>GPT-4o</a:t>
            </a:r>
          </a:p>
          <a:p>
            <a:pPr algn="l">
              <a:spcAft>
                <a:spcPts val="300"/>
              </a:spcAft>
              <a:defRPr sz="1150" b="0" i="0">
                <a:solidFill>
                  <a:srgbClr val="2B3542"/>
                </a:solidFill>
                <a:latin typeface="Aptos"/>
              </a:defRPr>
            </a:pPr>
            <a:r>
              <a:rPr sz="1400" b="1" dirty="0"/>
              <a:t>Claude 3.5 Sonnet</a:t>
            </a:r>
          </a:p>
          <a:p>
            <a:pPr algn="l">
              <a:spcAft>
                <a:spcPts val="300"/>
              </a:spcAft>
              <a:defRPr sz="1150" b="0" i="0">
                <a:solidFill>
                  <a:srgbClr val="2B3542"/>
                </a:solidFill>
                <a:latin typeface="Aptos"/>
              </a:defRPr>
            </a:pPr>
            <a:r>
              <a:rPr sz="1400" b="1" dirty="0" smtClean="0"/>
              <a:t>DeepSeek-R1</a:t>
            </a:r>
            <a:endParaRPr lang="en-US" sz="1400" b="1" dirty="0" smtClean="0"/>
          </a:p>
          <a:p>
            <a:pPr algn="l">
              <a:spcAft>
                <a:spcPts val="300"/>
              </a:spcAft>
              <a:defRPr sz="1150" b="0" i="0">
                <a:solidFill>
                  <a:srgbClr val="2B3542"/>
                </a:solidFill>
                <a:latin typeface="Aptos"/>
              </a:defRPr>
            </a:pPr>
            <a:r>
              <a:rPr lang="en-US" sz="1400" b="1" dirty="0" err="1" smtClean="0"/>
              <a:t>DeepSeek</a:t>
            </a:r>
            <a:r>
              <a:rPr lang="en-US" sz="1400" b="1" dirty="0" smtClean="0"/>
              <a:t> – V3</a:t>
            </a:r>
            <a:endParaRPr sz="1400" b="1" dirty="0"/>
          </a:p>
          <a:p>
            <a:pPr algn="l">
              <a:spcAft>
                <a:spcPts val="300"/>
              </a:spcAft>
              <a:defRPr sz="1150" b="0" i="0">
                <a:solidFill>
                  <a:srgbClr val="2B3542"/>
                </a:solidFill>
                <a:latin typeface="Aptos"/>
              </a:defRPr>
            </a:pPr>
            <a:r>
              <a:rPr sz="1400" b="1" dirty="0"/>
              <a:t>Qwen3 </a:t>
            </a:r>
            <a:r>
              <a:rPr sz="1400" b="1" dirty="0" smtClean="0"/>
              <a:t>32B</a:t>
            </a:r>
            <a:endParaRPr lang="en-US" sz="1400" b="1" dirty="0" smtClean="0"/>
          </a:p>
          <a:p>
            <a:pPr algn="l">
              <a:spcAft>
                <a:spcPts val="300"/>
              </a:spcAft>
              <a:defRPr sz="1150" b="0" i="0">
                <a:solidFill>
                  <a:srgbClr val="2B3542"/>
                </a:solidFill>
                <a:latin typeface="Aptos"/>
              </a:defRPr>
            </a:pPr>
            <a:r>
              <a:rPr lang="en-US" sz="1400" b="1" dirty="0" err="1" smtClean="0"/>
              <a:t>Qwen</a:t>
            </a:r>
            <a:r>
              <a:rPr lang="en-US" sz="1400" b="1" dirty="0" smtClean="0"/>
              <a:t> 2.5 – 72 B Instruct</a:t>
            </a:r>
            <a:endParaRPr sz="1400" b="1" dirty="0"/>
          </a:p>
          <a:p>
            <a:pPr algn="l">
              <a:spcAft>
                <a:spcPts val="300"/>
              </a:spcAft>
              <a:defRPr sz="1150" b="0" i="0">
                <a:solidFill>
                  <a:srgbClr val="2B3542"/>
                </a:solidFill>
                <a:latin typeface="Aptos"/>
              </a:defRPr>
            </a:pPr>
            <a:r>
              <a:rPr sz="1400" b="1" dirty="0"/>
              <a:t>Llama-3.1-405B-Instruct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84464" y="1691640"/>
            <a:ext cx="3182112" cy="4160520"/>
          </a:xfrm>
          <a:prstGeom prst="roundRect">
            <a:avLst>
              <a:gd name="adj" fmla="val 12000"/>
            </a:avLst>
          </a:prstGeom>
          <a:solidFill>
            <a:srgbClr val="FCF6E8"/>
          </a:solidFill>
          <a:ln w="10160"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513064" y="1920240"/>
            <a:ext cx="68580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3400" b="1" i="0">
                <a:solidFill>
                  <a:srgbClr val="DDA43E"/>
                </a:solidFill>
                <a:latin typeface="Aptos Display"/>
              </a:defRPr>
            </a:pPr>
            <a: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0576" y="2139696"/>
            <a:ext cx="12801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000" b="1" i="0">
                <a:solidFill>
                  <a:srgbClr val="667588"/>
                </a:solidFill>
                <a:latin typeface="Aptos"/>
              </a:defRPr>
            </a:pPr>
            <a:r>
              <a:t>MODELS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13064" y="2679192"/>
            <a:ext cx="269748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700" b="1" i="0">
                <a:solidFill>
                  <a:srgbClr val="1A304E"/>
                </a:solidFill>
                <a:latin typeface="Aptos"/>
              </a:defRPr>
            </a:pPr>
            <a:r>
              <a:t>Small LLMs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13064" y="3108960"/>
            <a:ext cx="26974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200" b="0" i="0">
                <a:solidFill>
                  <a:srgbClr val="2B3542"/>
                </a:solidFill>
                <a:latin typeface="Aptos"/>
              </a:defRPr>
            </a:pPr>
            <a:r>
              <a:t>Models with fewer than 10 billion parameters.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513064" y="3703320"/>
            <a:ext cx="502920" cy="36576"/>
          </a:xfrm>
          <a:prstGeom prst="rect">
            <a:avLst/>
          </a:prstGeom>
          <a:solidFill>
            <a:srgbClr val="DDA43E"/>
          </a:solidFill>
          <a:ln w="10160">
            <a:solidFill>
              <a:srgbClr val="DDA4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513064" y="3886200"/>
            <a:ext cx="2697480" cy="157735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150" b="0" i="0">
                <a:solidFill>
                  <a:srgbClr val="2B3542"/>
                </a:solidFill>
                <a:latin typeface="Aptos"/>
              </a:defRPr>
            </a:pPr>
            <a:r>
              <a:rPr sz="1400" b="1" dirty="0" smtClean="0"/>
              <a:t>Qwen3-8B</a:t>
            </a:r>
            <a:endParaRPr lang="en-US" sz="1400" b="1" dirty="0" smtClean="0"/>
          </a:p>
          <a:p>
            <a:pPr algn="l">
              <a:spcAft>
                <a:spcPts val="300"/>
              </a:spcAft>
              <a:defRPr sz="1150" b="0" i="0">
                <a:solidFill>
                  <a:srgbClr val="2B3542"/>
                </a:solidFill>
                <a:latin typeface="Aptos"/>
              </a:defRPr>
            </a:pPr>
            <a:r>
              <a:rPr lang="en-US" sz="1400" b="1" dirty="0" err="1" smtClean="0"/>
              <a:t>Qwen</a:t>
            </a:r>
            <a:r>
              <a:rPr lang="en-US" sz="1400" b="1" dirty="0" smtClean="0"/>
              <a:t> 3 – 4B </a:t>
            </a:r>
            <a:endParaRPr sz="1400" b="1" dirty="0"/>
          </a:p>
          <a:p>
            <a:pPr algn="l">
              <a:spcAft>
                <a:spcPts val="300"/>
              </a:spcAft>
              <a:defRPr sz="1150" b="0" i="0">
                <a:solidFill>
                  <a:srgbClr val="2B3542"/>
                </a:solidFill>
                <a:latin typeface="Aptos"/>
              </a:defRPr>
            </a:pPr>
            <a:r>
              <a:rPr sz="1400" b="1" dirty="0"/>
              <a:t>Llama-3.1-8B-Instruct</a:t>
            </a:r>
          </a:p>
          <a:p>
            <a:pPr algn="l">
              <a:spcAft>
                <a:spcPts val="300"/>
              </a:spcAft>
              <a:defRPr sz="1150" b="0" i="0">
                <a:solidFill>
                  <a:srgbClr val="2B3542"/>
                </a:solidFill>
                <a:latin typeface="Aptos"/>
              </a:defRPr>
            </a:pPr>
            <a:r>
              <a:rPr sz="1400" b="1" dirty="0" smtClean="0"/>
              <a:t>Phi-4-mini-instruct</a:t>
            </a:r>
            <a:endParaRPr lang="en-US" sz="1400" b="1" dirty="0" smtClean="0"/>
          </a:p>
          <a:p>
            <a:pPr>
              <a:spcAft>
                <a:spcPts val="300"/>
              </a:spcAft>
              <a:defRPr sz="1150" b="0" i="0">
                <a:solidFill>
                  <a:srgbClr val="2B3542"/>
                </a:solidFill>
                <a:latin typeface="Aptos"/>
              </a:defRPr>
            </a:pPr>
            <a:r>
              <a:rPr lang="en-US" sz="1400" b="1" dirty="0" smtClean="0"/>
              <a:t>Gemma-3-4B-IT</a:t>
            </a:r>
          </a:p>
          <a:p>
            <a:pPr>
              <a:spcAft>
                <a:spcPts val="300"/>
              </a:spcAft>
              <a:defRPr sz="1150" b="0" i="0">
                <a:solidFill>
                  <a:srgbClr val="2B3542"/>
                </a:solidFill>
                <a:latin typeface="Aptos"/>
              </a:defRPr>
            </a:pPr>
            <a:r>
              <a:rPr sz="1400" b="1" dirty="0" smtClean="0"/>
              <a:t>Mistral-7B-v0.3</a:t>
            </a:r>
            <a:endParaRPr sz="1400" b="1" dirty="0"/>
          </a:p>
        </p:txBody>
      </p:sp>
      <p:sp>
        <p:nvSpPr>
          <p:cNvPr id="30" name="Rounded Rectangle 29"/>
          <p:cNvSpPr/>
          <p:nvPr/>
        </p:nvSpPr>
        <p:spPr>
          <a:xfrm>
            <a:off x="960120" y="5971032"/>
            <a:ext cx="10149840" cy="347472"/>
          </a:xfrm>
          <a:prstGeom prst="roundRect">
            <a:avLst>
              <a:gd name="adj" fmla="val 12000"/>
            </a:avLst>
          </a:prstGeom>
          <a:solidFill>
            <a:srgbClr val="F7F9FC"/>
          </a:solidFill>
          <a:ln w="10160">
            <a:solidFill>
              <a:srgbClr val="F7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115568" y="6016752"/>
            <a:ext cx="9829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150" b="1" i="0">
                <a:solidFill>
                  <a:srgbClr val="008991"/>
                </a:solidFill>
                <a:latin typeface="Aptos"/>
              </a:defRPr>
            </a:pPr>
            <a:r>
              <a:t>Why compare three tiers? To examine Jev's performance against newer models, established models, and smaller models.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38912"/>
            <a:ext cx="91440" cy="429768"/>
          </a:xfrm>
          <a:prstGeom prst="rect">
            <a:avLst/>
          </a:prstGeom>
          <a:solidFill>
            <a:srgbClr val="008991"/>
          </a:solidFill>
          <a:ln w="10160">
            <a:solidFill>
              <a:srgbClr val="0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49808" y="365760"/>
            <a:ext cx="107899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2600" b="1" i="0">
                <a:solidFill>
                  <a:srgbClr val="1A304E"/>
                </a:solidFill>
                <a:latin typeface="Aptos Display"/>
              </a:defRPr>
            </a:pPr>
            <a:r>
              <a:t>How the Evaluation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" y="914400"/>
            <a:ext cx="105156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900" b="1" i="0">
                <a:solidFill>
                  <a:srgbClr val="008991"/>
                </a:solidFill>
                <a:latin typeface="Aptos"/>
              </a:defRPr>
            </a:pPr>
            <a:r>
              <a:t>FROM QUESTIONS TO ACCURACY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11155680" cy="10972"/>
          </a:xfrm>
          <a:prstGeom prst="rect">
            <a:avLst/>
          </a:prstGeom>
          <a:solidFill>
            <a:srgbClr val="DCE4ED"/>
          </a:solidFill>
          <a:ln w="10160"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064240" y="6492240"/>
            <a:ext cx="50292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  <a:defRPr sz="900" b="0" i="0">
                <a:solidFill>
                  <a:srgbClr val="667588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170432"/>
            <a:ext cx="1069848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450" b="0" i="0">
                <a:solidFill>
                  <a:srgbClr val="2B3542"/>
                </a:solidFill>
                <a:latin typeface="Aptos"/>
              </a:defRPr>
            </a:pPr>
            <a:r>
              <a:t>The researchers evaluate each model using standardized multiple-choice questions and compare predictions with the answer key.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920240"/>
            <a:ext cx="2240280" cy="2011680"/>
          </a:xfrm>
          <a:prstGeom prst="roundRect">
            <a:avLst>
              <a:gd name="adj" fmla="val 12000"/>
            </a:avLst>
          </a:prstGeom>
          <a:solidFill>
            <a:srgbClr val="EBF3FB"/>
          </a:solidFill>
          <a:ln w="10160"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804672" y="2084831"/>
            <a:ext cx="438912" cy="438912"/>
          </a:xfrm>
          <a:prstGeom prst="ellipse">
            <a:avLst/>
          </a:prstGeom>
          <a:solidFill>
            <a:srgbClr val="365E91"/>
          </a:solidFill>
          <a:ln w="10160">
            <a:solidFill>
              <a:srgbClr val="365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4672" y="2167128"/>
            <a:ext cx="438912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  <a:defRPr sz="1200" b="1" i="0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2679192"/>
            <a:ext cx="1938528" cy="4297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400" b="1" i="0">
                <a:solidFill>
                  <a:srgbClr val="1A304E"/>
                </a:solidFill>
                <a:latin typeface="Aptos"/>
              </a:defRPr>
            </a:pPr>
            <a:r>
              <a:t>Benchmark Questions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3136392"/>
            <a:ext cx="1938528" cy="6675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050" b="0" i="0">
                <a:solidFill>
                  <a:srgbClr val="2B3542"/>
                </a:solidFill>
                <a:latin typeface="Aptos"/>
              </a:defRPr>
            </a:pPr>
            <a:r>
              <a:t>Use standardized multiple-choice questions with correct answers.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962656" y="2926080"/>
            <a:ext cx="466344" cy="0"/>
          </a:xfrm>
          <a:prstGeom prst="line">
            <a:avLst/>
          </a:prstGeom>
          <a:ln w="20320">
            <a:solidFill>
              <a:srgbClr val="0089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538728" y="1920240"/>
            <a:ext cx="2240280" cy="2011680"/>
          </a:xfrm>
          <a:prstGeom prst="roundRect">
            <a:avLst>
              <a:gd name="adj" fmla="val 12000"/>
            </a:avLst>
          </a:prstGeom>
          <a:solidFill>
            <a:srgbClr val="E5F6F5"/>
          </a:solidFill>
          <a:ln w="10160"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3685032" y="2084831"/>
            <a:ext cx="438912" cy="438912"/>
          </a:xfrm>
          <a:prstGeom prst="ellipse">
            <a:avLst/>
          </a:prstGeom>
          <a:solidFill>
            <a:srgbClr val="008991"/>
          </a:solidFill>
          <a:ln w="10160">
            <a:solidFill>
              <a:srgbClr val="0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685032" y="2167128"/>
            <a:ext cx="438912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  <a:defRPr sz="1200" b="1" i="0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85032" y="2679192"/>
            <a:ext cx="1938528" cy="4297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400" b="1" i="0">
                <a:solidFill>
                  <a:srgbClr val="1A304E"/>
                </a:solidFill>
                <a:latin typeface="Aptos"/>
              </a:defRPr>
            </a:pPr>
            <a:r>
              <a:t>Model Prediction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85032" y="3136392"/>
            <a:ext cx="1938528" cy="6675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050" b="0" i="0">
                <a:solidFill>
                  <a:srgbClr val="2B3542"/>
                </a:solidFill>
                <a:latin typeface="Aptos"/>
              </a:defRPr>
            </a:pPr>
            <a:r>
              <a:t>Jev uses Choice to select an option; LLMs answer the same benchmark questions.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843016" y="2926080"/>
            <a:ext cx="466344" cy="0"/>
          </a:xfrm>
          <a:prstGeom prst="line">
            <a:avLst/>
          </a:prstGeom>
          <a:ln w="20320">
            <a:solidFill>
              <a:srgbClr val="0089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419088" y="1920240"/>
            <a:ext cx="2240280" cy="2011680"/>
          </a:xfrm>
          <a:prstGeom prst="roundRect">
            <a:avLst>
              <a:gd name="adj" fmla="val 12000"/>
            </a:avLst>
          </a:prstGeom>
          <a:solidFill>
            <a:srgbClr val="FCF6E8"/>
          </a:solidFill>
          <a:ln w="10160"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565392" y="2084831"/>
            <a:ext cx="438912" cy="438912"/>
          </a:xfrm>
          <a:prstGeom prst="ellipse">
            <a:avLst/>
          </a:prstGeom>
          <a:solidFill>
            <a:srgbClr val="DDA43E"/>
          </a:solidFill>
          <a:ln w="10160">
            <a:solidFill>
              <a:srgbClr val="DDA4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65392" y="2167128"/>
            <a:ext cx="438912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  <a:defRPr sz="1200" b="1" i="0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65392" y="2679192"/>
            <a:ext cx="1938528" cy="4297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400" b="1" i="0">
                <a:solidFill>
                  <a:srgbClr val="1A304E"/>
                </a:solidFill>
                <a:latin typeface="Aptos"/>
              </a:defRPr>
            </a:pPr>
            <a:r>
              <a:t>Compare with Answer Key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65392" y="3136392"/>
            <a:ext cx="1938528" cy="6675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050" b="0" i="0">
                <a:solidFill>
                  <a:srgbClr val="2B3542"/>
                </a:solidFill>
                <a:latin typeface="Aptos"/>
              </a:defRPr>
            </a:pPr>
            <a:r>
              <a:t>Check whether each selected answer is correct.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723376" y="2926080"/>
            <a:ext cx="466343" cy="0"/>
          </a:xfrm>
          <a:prstGeom prst="line">
            <a:avLst/>
          </a:prstGeom>
          <a:ln w="20320">
            <a:solidFill>
              <a:srgbClr val="0089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9299448" y="1920240"/>
            <a:ext cx="2240280" cy="2011680"/>
          </a:xfrm>
          <a:prstGeom prst="roundRect">
            <a:avLst>
              <a:gd name="adj" fmla="val 12000"/>
            </a:avLst>
          </a:prstGeom>
          <a:solidFill>
            <a:srgbClr val="E9F6EF"/>
          </a:solidFill>
          <a:ln w="10160"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9445752" y="2084831"/>
            <a:ext cx="438912" cy="438912"/>
          </a:xfrm>
          <a:prstGeom prst="ellipse">
            <a:avLst/>
          </a:prstGeom>
          <a:solidFill>
            <a:srgbClr val="337E5F"/>
          </a:solidFill>
          <a:ln w="10160">
            <a:solidFill>
              <a:srgbClr val="337E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445752" y="2167128"/>
            <a:ext cx="438912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  <a:defRPr sz="1200" b="1" i="0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45752" y="2679192"/>
            <a:ext cx="1938528" cy="4297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400" b="1" i="0">
                <a:solidFill>
                  <a:srgbClr val="1A304E"/>
                </a:solidFill>
                <a:latin typeface="Aptos"/>
              </a:defRPr>
            </a:pPr>
            <a:r>
              <a:t>Calculate Accuracy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45752" y="3136392"/>
            <a:ext cx="1938528" cy="6675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050" b="0" i="0">
                <a:solidFill>
                  <a:srgbClr val="2B3542"/>
                </a:solidFill>
                <a:latin typeface="Aptos"/>
              </a:defRPr>
            </a:pPr>
            <a:r>
              <a:t>Correct answers divided by total questions, multiplied by 100%.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234440" y="4279392"/>
            <a:ext cx="9738360" cy="658368"/>
          </a:xfrm>
          <a:prstGeom prst="roundRect">
            <a:avLst>
              <a:gd name="adj" fmla="val 12000"/>
            </a:avLst>
          </a:prstGeom>
          <a:solidFill>
            <a:srgbClr val="F7F9FC"/>
          </a:solidFill>
          <a:ln w="10160"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508760" y="4453128"/>
            <a:ext cx="91897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  <a:defRPr sz="1700" b="1" i="0">
                <a:solidFill>
                  <a:srgbClr val="1A304E"/>
                </a:solidFill>
                <a:latin typeface="Aptos"/>
              </a:defRPr>
            </a:pPr>
            <a:r>
              <a:t>Accuracy = (Correct answers ÷ Total questions) × 100%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08760" y="5074920"/>
            <a:ext cx="91897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  <a:defRPr sz="1300" b="1" i="0">
                <a:solidFill>
                  <a:srgbClr val="008991"/>
                </a:solidFill>
                <a:latin typeface="Aptos"/>
              </a:defRPr>
            </a:pPr>
            <a:r>
              <a:t>Example: 85 correct answers out of 100 = 85% accuracy.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" y="5468112"/>
            <a:ext cx="29260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400" b="1" i="0">
                <a:solidFill>
                  <a:srgbClr val="1A304E"/>
                </a:solidFill>
                <a:latin typeface="Aptos"/>
              </a:defRPr>
            </a:pPr>
            <a:r>
              <a:t>Important details from the paper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1248" y="5733288"/>
            <a:ext cx="10515600" cy="62179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100"/>
              </a:spcAft>
              <a:defRPr sz="950">
                <a:solidFill>
                  <a:srgbClr val="2B3542"/>
                </a:solidFill>
                <a:latin typeface="Aptos"/>
              </a:defRPr>
            </a:pPr>
            <a:r>
              <a:rPr sz="1200" b="1" dirty="0">
                <a:solidFill>
                  <a:schemeClr val="tx2">
                    <a:lumMod val="75000"/>
                  </a:schemeClr>
                </a:solidFill>
                <a:latin typeface="Aptos"/>
              </a:rPr>
              <a:t>•  Each </a:t>
            </a:r>
            <a:r>
              <a:rPr sz="1200" b="1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Jev</a:t>
            </a:r>
            <a:r>
              <a:rPr sz="1200" b="1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and frontier LLM evaluation was run once.</a:t>
            </a:r>
          </a:p>
          <a:p>
            <a:pPr>
              <a:spcAft>
                <a:spcPts val="100"/>
              </a:spcAft>
              <a:defRPr sz="950">
                <a:solidFill>
                  <a:srgbClr val="2B3542"/>
                </a:solidFill>
                <a:latin typeface="Aptos"/>
              </a:defRPr>
            </a:pPr>
            <a:r>
              <a:rPr sz="1200" b="1" dirty="0">
                <a:solidFill>
                  <a:schemeClr val="tx2">
                    <a:lumMod val="75000"/>
                  </a:schemeClr>
                </a:solidFill>
                <a:latin typeface="Aptos"/>
              </a:rPr>
              <a:t>•  Of 169 representative/small model–benchmark pairs, 104 used published scores and 65 were evaluated by the researchers.</a:t>
            </a:r>
          </a:p>
          <a:p>
            <a:pPr>
              <a:spcAft>
                <a:spcPts val="100"/>
              </a:spcAft>
              <a:defRPr sz="950">
                <a:solidFill>
                  <a:srgbClr val="2B3542"/>
                </a:solidFill>
                <a:latin typeface="Aptos"/>
              </a:defRPr>
            </a:pPr>
            <a:r>
              <a:rPr sz="1200" b="1" dirty="0">
                <a:solidFill>
                  <a:schemeClr val="tx2">
                    <a:lumMod val="75000"/>
                  </a:schemeClr>
                </a:solidFill>
                <a:latin typeface="Aptos"/>
              </a:rPr>
              <a:t>•  Published results may use different prompts and settings, so some comparisons are approximate.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38912"/>
            <a:ext cx="91440" cy="429768"/>
          </a:xfrm>
          <a:prstGeom prst="rect">
            <a:avLst/>
          </a:prstGeom>
          <a:solidFill>
            <a:srgbClr val="008991"/>
          </a:solidFill>
          <a:ln w="10160">
            <a:solidFill>
              <a:srgbClr val="0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49808" y="365760"/>
            <a:ext cx="107899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2600" b="1" i="0">
                <a:solidFill>
                  <a:srgbClr val="1A304E"/>
                </a:solidFill>
                <a:latin typeface="Aptos Display"/>
              </a:defRPr>
            </a:pPr>
            <a:r>
              <a:t>Overall Results: How Does Jev Compare?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" y="914400"/>
            <a:ext cx="105156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900" b="1" i="0">
                <a:solidFill>
                  <a:srgbClr val="008991"/>
                </a:solidFill>
                <a:latin typeface="Aptos"/>
              </a:defRPr>
            </a:pPr>
            <a:r>
              <a:t>MAIN FINDINGS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11155680" cy="10972"/>
          </a:xfrm>
          <a:prstGeom prst="rect">
            <a:avLst/>
          </a:prstGeom>
          <a:solidFill>
            <a:srgbClr val="DCE4ED"/>
          </a:solidFill>
          <a:ln w="10160"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064240" y="6492240"/>
            <a:ext cx="50292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  <a:defRPr sz="900" b="0" i="0">
                <a:solidFill>
                  <a:srgbClr val="667588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161288"/>
            <a:ext cx="106070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500" b="0" i="0">
                <a:solidFill>
                  <a:srgbClr val="2B3542"/>
                </a:solidFill>
                <a:latin typeface="Aptos"/>
              </a:defRPr>
            </a:pPr>
            <a:r>
              <a:t>The overall results show a mix of clear strengths and task-specific limitations.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8096" y="1783080"/>
            <a:ext cx="3401568" cy="3246120"/>
          </a:xfrm>
          <a:prstGeom prst="roundRect">
            <a:avLst>
              <a:gd name="adj" fmla="val 12000"/>
            </a:avLst>
          </a:prstGeom>
          <a:solidFill>
            <a:srgbClr val="E9F6EF"/>
          </a:solidFill>
          <a:ln w="10160"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905256" y="1956816"/>
            <a:ext cx="54864" cy="2898648"/>
          </a:xfrm>
          <a:prstGeom prst="rect">
            <a:avLst/>
          </a:prstGeom>
          <a:solidFill>
            <a:srgbClr val="337E5F"/>
          </a:solidFill>
          <a:ln w="10160">
            <a:solidFill>
              <a:srgbClr val="337E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60704" y="1938528"/>
            <a:ext cx="2962656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700" b="1" i="0">
                <a:solidFill>
                  <a:srgbClr val="1A304E"/>
                </a:solidFill>
                <a:latin typeface="Aptos"/>
              </a:defRPr>
            </a:pPr>
            <a:r>
              <a:t>Strong performance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" y="2331720"/>
            <a:ext cx="2962656" cy="25877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300" b="0" i="0">
                <a:solidFill>
                  <a:srgbClr val="2B3542"/>
                </a:solidFill>
                <a:latin typeface="Aptos"/>
              </a:defRPr>
            </a:pPr>
            <a:r>
              <a:t>• Achieved the best score among all evaluated models on MMLU-Redux and ARC-Challenge.</a:t>
            </a:r>
          </a:p>
          <a:p>
            <a:pPr algn="l">
              <a:spcAft>
                <a:spcPts val="300"/>
              </a:spcAft>
              <a:defRPr sz="1300" b="0" i="0">
                <a:solidFill>
                  <a:srgbClr val="2B3542"/>
                </a:solidFill>
                <a:latin typeface="Aptos"/>
              </a:defRPr>
            </a:pPr>
            <a:endParaRPr/>
          </a:p>
          <a:p>
            <a:pPr algn="l">
              <a:spcAft>
                <a:spcPts val="300"/>
              </a:spcAft>
              <a:defRPr sz="1300" b="0" i="0">
                <a:solidFill>
                  <a:srgbClr val="2B3542"/>
                </a:solidFill>
                <a:latin typeface="Aptos"/>
              </a:defRPr>
            </a:pPr>
            <a:r>
              <a:t>• Performed competitively on several knowledge and commonsense benchmarks.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783080"/>
            <a:ext cx="3401568" cy="3246120"/>
          </a:xfrm>
          <a:prstGeom prst="roundRect">
            <a:avLst>
              <a:gd name="adj" fmla="val 12000"/>
            </a:avLst>
          </a:prstGeom>
          <a:solidFill>
            <a:srgbClr val="FAEDED"/>
          </a:solidFill>
          <a:ln w="10160"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26280" y="1956816"/>
            <a:ext cx="54864" cy="2898648"/>
          </a:xfrm>
          <a:prstGeom prst="rect">
            <a:avLst/>
          </a:prstGeom>
          <a:solidFill>
            <a:srgbClr val="B85454"/>
          </a:solidFill>
          <a:ln w="10160">
            <a:solidFill>
              <a:srgbClr val="B85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681728" y="1938528"/>
            <a:ext cx="2962656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700" b="1" i="0">
                <a:solidFill>
                  <a:srgbClr val="1A304E"/>
                </a:solidFill>
                <a:latin typeface="Aptos"/>
              </a:defRPr>
            </a:pPr>
            <a:r>
              <a:t>Weakness in mathematics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81728" y="2331720"/>
            <a:ext cx="2962656" cy="25877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300" b="0" i="0">
                <a:solidFill>
                  <a:srgbClr val="2B3542"/>
                </a:solidFill>
                <a:latin typeface="Aptos"/>
              </a:defRPr>
            </a:pPr>
            <a:r>
              <a:t>• Fell behind frontier LLMs on MathQA and AQuA-RAT.</a:t>
            </a:r>
          </a:p>
          <a:p>
            <a:pPr algn="l">
              <a:spcAft>
                <a:spcPts val="300"/>
              </a:spcAft>
              <a:defRPr sz="1300" b="0" i="0">
                <a:solidFill>
                  <a:srgbClr val="2B3542"/>
                </a:solidFill>
                <a:latin typeface="Aptos"/>
              </a:defRPr>
            </a:pPr>
            <a:endParaRPr/>
          </a:p>
          <a:p>
            <a:pPr algn="l">
              <a:spcAft>
                <a:spcPts val="300"/>
              </a:spcAft>
              <a:defRPr sz="1300" b="0" i="0">
                <a:solidFill>
                  <a:srgbClr val="2B3542"/>
                </a:solidFill>
                <a:latin typeface="Aptos"/>
              </a:defRPr>
            </a:pPr>
            <a:r>
              <a:t>• Scored below all 19 general-purpose LLMs on MathQA.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10144" y="1783080"/>
            <a:ext cx="3401568" cy="3246120"/>
          </a:xfrm>
          <a:prstGeom prst="roundRect">
            <a:avLst>
              <a:gd name="adj" fmla="val 12000"/>
            </a:avLst>
          </a:prstGeom>
          <a:solidFill>
            <a:srgbClr val="EBF3FB"/>
          </a:solidFill>
          <a:ln w="10160"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147304" y="1956816"/>
            <a:ext cx="54864" cy="2898648"/>
          </a:xfrm>
          <a:prstGeom prst="rect">
            <a:avLst/>
          </a:prstGeom>
          <a:solidFill>
            <a:srgbClr val="365E91"/>
          </a:solidFill>
          <a:ln w="10160">
            <a:solidFill>
              <a:srgbClr val="365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02752" y="1938528"/>
            <a:ext cx="2962656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700" b="1" i="0">
                <a:solidFill>
                  <a:srgbClr val="1A304E"/>
                </a:solidFill>
                <a:latin typeface="Aptos"/>
              </a:defRPr>
            </a:pPr>
            <a:r>
              <a:t>Multilingual performance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02752" y="2331720"/>
            <a:ext cx="2962656" cy="25877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300" b="0" i="0">
                <a:solidFill>
                  <a:srgbClr val="2B3542"/>
                </a:solidFill>
                <a:latin typeface="Aptos"/>
              </a:defRPr>
            </a:pPr>
            <a:r>
              <a:t>• Performed well on translated multilingual questions.</a:t>
            </a:r>
          </a:p>
          <a:p>
            <a:pPr algn="l">
              <a:spcAft>
                <a:spcPts val="300"/>
              </a:spcAft>
              <a:defRPr sz="1300" b="0" i="0">
                <a:solidFill>
                  <a:srgbClr val="2B3542"/>
                </a:solidFill>
                <a:latin typeface="Aptos"/>
              </a:defRPr>
            </a:pPr>
            <a:endParaRPr/>
          </a:p>
          <a:p>
            <a:pPr algn="l">
              <a:spcAft>
                <a:spcPts val="300"/>
              </a:spcAft>
              <a:defRPr sz="1300" b="0" i="0">
                <a:solidFill>
                  <a:srgbClr val="2B3542"/>
                </a:solidFill>
                <a:latin typeface="Aptos"/>
              </a:defRPr>
            </a:pPr>
            <a:r>
              <a:t>• Had more difficulty with C-Eval, which contains questions from Chinese exams.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05840" y="5349240"/>
            <a:ext cx="10149840" cy="731520"/>
          </a:xfrm>
          <a:prstGeom prst="roundRect">
            <a:avLst>
              <a:gd name="adj" fmla="val 12000"/>
            </a:avLst>
          </a:prstGeom>
          <a:solidFill>
            <a:srgbClr val="F7F9FC"/>
          </a:solidFill>
          <a:ln w="10160"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234440" y="5513832"/>
            <a:ext cx="1508760" cy="2468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300" b="1" i="0">
                <a:solidFill>
                  <a:srgbClr val="008991"/>
                </a:solidFill>
                <a:latin typeface="Aptos"/>
              </a:defRPr>
            </a:pPr>
            <a:r>
              <a:t>Main takeaway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34640" y="5486400"/>
            <a:ext cx="790956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400" b="1" i="0">
                <a:solidFill>
                  <a:srgbClr val="1A304E"/>
                </a:solidFill>
                <a:latin typeface="Aptos"/>
              </a:defRPr>
            </a:pPr>
            <a:r>
              <a:t>Jev performs well on many knowledge-based tasks, but mathematical problem-solving remains a major limitation.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38912"/>
            <a:ext cx="91440" cy="429768"/>
          </a:xfrm>
          <a:prstGeom prst="rect">
            <a:avLst/>
          </a:prstGeom>
          <a:solidFill>
            <a:srgbClr val="008991"/>
          </a:solidFill>
          <a:ln w="10160">
            <a:solidFill>
              <a:srgbClr val="0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49808" y="365760"/>
            <a:ext cx="107899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2600" b="1" i="0">
                <a:solidFill>
                  <a:srgbClr val="1A304E"/>
                </a:solidFill>
                <a:latin typeface="Aptos Display"/>
              </a:defRPr>
            </a:pPr>
            <a:r>
              <a:t>Knowledge vs. Mathematics: Where Jev Excels and Struggles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" y="914400"/>
            <a:ext cx="105156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900" b="1" i="0">
                <a:solidFill>
                  <a:srgbClr val="008991"/>
                </a:solidFill>
                <a:latin typeface="Aptos"/>
              </a:defRPr>
            </a:pPr>
            <a:r>
              <a:t>A KEY PERFORMANCE CONTRAST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11155680" cy="10972"/>
          </a:xfrm>
          <a:prstGeom prst="rect">
            <a:avLst/>
          </a:prstGeom>
          <a:solidFill>
            <a:srgbClr val="DCE4ED"/>
          </a:solidFill>
          <a:ln w="10160"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064240" y="6492240"/>
            <a:ext cx="50292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  <a:defRPr sz="900" b="0" i="0">
                <a:solidFill>
                  <a:srgbClr val="667588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463040"/>
            <a:ext cx="4983480" cy="2240280"/>
          </a:xfrm>
          <a:prstGeom prst="roundRect">
            <a:avLst>
              <a:gd name="adj" fmla="val 12000"/>
            </a:avLst>
          </a:prstGeom>
          <a:solidFill>
            <a:srgbClr val="EBF3FB"/>
          </a:solidFill>
          <a:ln w="10160"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914400" y="1636776"/>
            <a:ext cx="54864" cy="1892808"/>
          </a:xfrm>
          <a:prstGeom prst="rect">
            <a:avLst/>
          </a:prstGeom>
          <a:solidFill>
            <a:srgbClr val="365E91"/>
          </a:solidFill>
          <a:ln w="10160">
            <a:solidFill>
              <a:srgbClr val="365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69848" y="1618488"/>
            <a:ext cx="4544568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700" b="1" i="0">
                <a:solidFill>
                  <a:srgbClr val="1A304E"/>
                </a:solidFill>
                <a:latin typeface="Aptos"/>
              </a:defRPr>
            </a:pPr>
            <a:r>
              <a:t>Knowledge-based tasks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" y="2011680"/>
            <a:ext cx="4544568" cy="1581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300" b="0" i="0">
                <a:solidFill>
                  <a:srgbClr val="2B3542"/>
                </a:solidFill>
                <a:latin typeface="Aptos"/>
              </a:defRPr>
            </a:pPr>
            <a:r>
              <a:t>• Strong performance on several knowledge and commonsense benchmarks.</a:t>
            </a:r>
          </a:p>
          <a:p>
            <a:pPr algn="l">
              <a:spcAft>
                <a:spcPts val="300"/>
              </a:spcAft>
              <a:defRPr sz="1300" b="0" i="0">
                <a:solidFill>
                  <a:srgbClr val="2B3542"/>
                </a:solidFill>
                <a:latin typeface="Aptos"/>
              </a:defRPr>
            </a:pPr>
            <a:r>
              <a:t>• Outperformed all small LLMs on the non-math comparisons.</a:t>
            </a:r>
          </a:p>
          <a:p>
            <a:pPr algn="l">
              <a:spcAft>
                <a:spcPts val="300"/>
              </a:spcAft>
              <a:defRPr sz="1300" b="0" i="0">
                <a:solidFill>
                  <a:srgbClr val="2B3542"/>
                </a:solidFill>
                <a:latin typeface="Aptos"/>
              </a:defRPr>
            </a:pPr>
            <a:r>
              <a:t>• Achieved the best score on MMLU-Redux.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19088" y="1463040"/>
            <a:ext cx="4983480" cy="2240280"/>
          </a:xfrm>
          <a:prstGeom prst="roundRect">
            <a:avLst>
              <a:gd name="adj" fmla="val 12000"/>
            </a:avLst>
          </a:prstGeom>
          <a:solidFill>
            <a:srgbClr val="FAEDED"/>
          </a:solidFill>
          <a:ln w="10160"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556248" y="1636776"/>
            <a:ext cx="54864" cy="1892808"/>
          </a:xfrm>
          <a:prstGeom prst="rect">
            <a:avLst/>
          </a:prstGeom>
          <a:solidFill>
            <a:srgbClr val="B85454"/>
          </a:solidFill>
          <a:ln w="10160">
            <a:solidFill>
              <a:srgbClr val="B85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711696" y="1618488"/>
            <a:ext cx="4544568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700" b="1" i="0">
                <a:solidFill>
                  <a:srgbClr val="1A304E"/>
                </a:solidFill>
                <a:latin typeface="Aptos"/>
              </a:defRPr>
            </a:pPr>
            <a:r>
              <a:t>Mathematical tasks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11696" y="2011680"/>
            <a:ext cx="4544568" cy="1581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300" b="0" i="0">
                <a:solidFill>
                  <a:srgbClr val="2B3542"/>
                </a:solidFill>
                <a:latin typeface="Aptos"/>
              </a:defRPr>
            </a:pPr>
            <a:r>
              <a:t>• Struggled with multi-step math word problems.</a:t>
            </a:r>
          </a:p>
          <a:p>
            <a:pPr algn="l">
              <a:spcAft>
                <a:spcPts val="300"/>
              </a:spcAft>
              <a:defRPr sz="1300" b="0" i="0">
                <a:solidFill>
                  <a:srgbClr val="2B3542"/>
                </a:solidFill>
                <a:latin typeface="Aptos"/>
              </a:defRPr>
            </a:pPr>
            <a:r>
              <a:t>• Fell below all 19 general-purpose LLMs on MathQA.</a:t>
            </a:r>
          </a:p>
          <a:p>
            <a:pPr algn="l">
              <a:spcAft>
                <a:spcPts val="300"/>
              </a:spcAft>
              <a:defRPr sz="1300" b="0" i="0">
                <a:solidFill>
                  <a:srgbClr val="2B3542"/>
                </a:solidFill>
                <a:latin typeface="Aptos"/>
              </a:defRPr>
            </a:pPr>
            <a:r>
              <a:t>• Scored 17.7 percentage points below the frontier median on MathQA.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1560" y="4069080"/>
            <a:ext cx="4663440" cy="1115568"/>
          </a:xfrm>
          <a:prstGeom prst="roundRect">
            <a:avLst>
              <a:gd name="adj" fmla="val 12000"/>
            </a:avLst>
          </a:prstGeom>
          <a:solidFill>
            <a:srgbClr val="F7F9FC"/>
          </a:solidFill>
          <a:ln w="10160"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325880" y="4261104"/>
            <a:ext cx="19659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300" b="1" i="0">
                <a:solidFill>
                  <a:srgbClr val="667588"/>
                </a:solidFill>
                <a:latin typeface="Aptos"/>
              </a:defRPr>
            </a:pPr>
            <a:r>
              <a:t>Jev on MathQA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0" y="4197096"/>
            <a:ext cx="132588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  <a:defRPr sz="2500" b="1" i="0">
                <a:solidFill>
                  <a:srgbClr val="B85454"/>
                </a:solidFill>
                <a:latin typeface="Aptos"/>
              </a:defRPr>
            </a:pPr>
            <a:r>
              <a:t>75.0%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73952" y="4069080"/>
            <a:ext cx="4663440" cy="1115568"/>
          </a:xfrm>
          <a:prstGeom prst="roundRect">
            <a:avLst>
              <a:gd name="adj" fmla="val 12000"/>
            </a:avLst>
          </a:prstGeom>
          <a:solidFill>
            <a:srgbClr val="F7F9FC"/>
          </a:solidFill>
          <a:ln w="10160"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748272" y="4261104"/>
            <a:ext cx="24688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300" b="1" i="0">
                <a:solidFill>
                  <a:srgbClr val="667588"/>
                </a:solidFill>
                <a:latin typeface="Aptos"/>
              </a:defRPr>
            </a:pPr>
            <a:r>
              <a:t>Frontier-model median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46920" y="4197096"/>
            <a:ext cx="12344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  <a:defRPr sz="2500" b="1" i="0">
                <a:solidFill>
                  <a:srgbClr val="365E91"/>
                </a:solidFill>
                <a:latin typeface="Aptos"/>
              </a:defRPr>
            </a:pPr>
            <a:r>
              <a:t>92.7%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23360" y="5394960"/>
            <a:ext cx="4069080" cy="512064"/>
          </a:xfrm>
          <a:prstGeom prst="roundRect">
            <a:avLst>
              <a:gd name="adj" fmla="val 12000"/>
            </a:avLst>
          </a:prstGeom>
          <a:solidFill>
            <a:srgbClr val="FCF6E8"/>
          </a:solidFill>
          <a:ln w="10160">
            <a:solidFill>
              <a:srgbClr val="FCF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160520" y="5532120"/>
            <a:ext cx="379476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  <a:defRPr sz="1300" b="1" i="0">
                <a:solidFill>
                  <a:srgbClr val="966914"/>
                </a:solidFill>
                <a:latin typeface="Aptos"/>
              </a:defRPr>
            </a:pPr>
            <a:r>
              <a:t>Gap: −17.7 percentage points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5989320"/>
            <a:ext cx="18288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200" b="1" i="0">
                <a:solidFill>
                  <a:srgbClr val="1A304E"/>
                </a:solidFill>
                <a:latin typeface="Aptos"/>
              </a:defRPr>
            </a:pPr>
            <a:r>
              <a:t>Why might this happen?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97480" y="5943600"/>
            <a:ext cx="8503920" cy="46166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050" b="0" i="0">
                <a:solidFill>
                  <a:srgbClr val="2B3542"/>
                </a:solidFill>
                <a:latin typeface="Aptos"/>
              </a:defRPr>
            </a:pPr>
            <a:r>
              <a:rPr sz="1200" b="1" dirty="0"/>
              <a:t>Knowledge questions may involve identifying an option, while math word problems can require several calculation steps. The authors suggest multi-step calculation may be a weakness for </a:t>
            </a:r>
            <a:r>
              <a:rPr sz="1200" b="1" dirty="0" err="1"/>
              <a:t>Jev</a:t>
            </a:r>
            <a:r>
              <a:rPr sz="1200" b="1" dirty="0"/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38912"/>
            <a:ext cx="91440" cy="429768"/>
          </a:xfrm>
          <a:prstGeom prst="rect">
            <a:avLst/>
          </a:prstGeom>
          <a:solidFill>
            <a:srgbClr val="008991"/>
          </a:solidFill>
          <a:ln w="10160">
            <a:solidFill>
              <a:srgbClr val="0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49808" y="365760"/>
            <a:ext cx="107899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2600" b="1" i="0">
                <a:solidFill>
                  <a:srgbClr val="1A304E"/>
                </a:solidFill>
                <a:latin typeface="Aptos Display"/>
              </a:defRPr>
            </a:pPr>
            <a:r>
              <a:t>Reasoning Demands: How Does Task Complexity Affect Jev?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" y="914400"/>
            <a:ext cx="105156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900" b="1" i="0">
                <a:solidFill>
                  <a:srgbClr val="008991"/>
                </a:solidFill>
                <a:latin typeface="Aptos"/>
              </a:defRPr>
            </a:pPr>
            <a:r>
              <a:t>PERFORMANCE DIFFERENCES ACROSS TASKS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11155680" cy="10972"/>
          </a:xfrm>
          <a:prstGeom prst="rect">
            <a:avLst/>
          </a:prstGeom>
          <a:solidFill>
            <a:srgbClr val="DCE4ED"/>
          </a:solidFill>
          <a:ln w="10160"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064240" y="6492240"/>
            <a:ext cx="50292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  <a:defRPr sz="900" b="0" i="0">
                <a:solidFill>
                  <a:srgbClr val="667588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487983"/>
            <a:ext cx="20116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800" b="1" i="0">
                <a:solidFill>
                  <a:srgbClr val="1A304E"/>
                </a:solidFill>
                <a:latin typeface="Aptos"/>
              </a:defRPr>
            </a:pPr>
            <a:r>
              <a:rPr dirty="0"/>
              <a:t>Key findings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976726"/>
            <a:ext cx="6812280" cy="249914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800"/>
              </a:spcAft>
              <a:defRPr sz="1250">
                <a:solidFill>
                  <a:srgbClr val="2B3542"/>
                </a:solidFill>
                <a:latin typeface="Aptos"/>
              </a:defRPr>
            </a:pPr>
            <a:r>
              <a:rPr sz="1400" b="1" dirty="0">
                <a:solidFill>
                  <a:srgbClr val="008991"/>
                </a:solidFill>
                <a:latin typeface="Aptos"/>
              </a:rPr>
              <a:t>•  </a:t>
            </a:r>
            <a:r>
              <a:rPr sz="1400" b="1" dirty="0">
                <a:solidFill>
                  <a:srgbClr val="2B3542"/>
                </a:solidFill>
                <a:latin typeface="Aptos"/>
              </a:rPr>
              <a:t>The reasoning gap grows: </a:t>
            </a:r>
            <a:r>
              <a:rPr sz="1400" dirty="0" err="1">
                <a:solidFill>
                  <a:srgbClr val="2B3542"/>
                </a:solidFill>
                <a:latin typeface="Aptos"/>
              </a:rPr>
              <a:t>Jev's</a:t>
            </a:r>
            <a:r>
              <a:rPr sz="1400" dirty="0">
                <a:solidFill>
                  <a:srgbClr val="2B3542"/>
                </a:solidFill>
                <a:latin typeface="Aptos"/>
              </a:rPr>
              <a:t> gap from the frontier-model median is small on MMLU, moderate on MMLU-Pro, and large on GPQA Diamond, </a:t>
            </a:r>
            <a:r>
              <a:rPr sz="1400" dirty="0" err="1">
                <a:solidFill>
                  <a:srgbClr val="2B3542"/>
                </a:solidFill>
                <a:latin typeface="Aptos"/>
              </a:rPr>
              <a:t>AQuA</a:t>
            </a:r>
            <a:r>
              <a:rPr sz="1400" dirty="0">
                <a:solidFill>
                  <a:srgbClr val="2B3542"/>
                </a:solidFill>
                <a:latin typeface="Aptos"/>
              </a:rPr>
              <a:t>-RAT, and </a:t>
            </a:r>
            <a:r>
              <a:rPr sz="1400" dirty="0" err="1">
                <a:solidFill>
                  <a:srgbClr val="2B3542"/>
                </a:solidFill>
                <a:latin typeface="Aptos"/>
              </a:rPr>
              <a:t>MathQA</a:t>
            </a:r>
            <a:r>
              <a:rPr sz="1400" dirty="0" smtClean="0">
                <a:solidFill>
                  <a:srgbClr val="2B3542"/>
                </a:solidFill>
                <a:latin typeface="Aptos"/>
              </a:rPr>
              <a:t>.</a:t>
            </a:r>
            <a:endParaRPr sz="1400" dirty="0">
              <a:solidFill>
                <a:srgbClr val="2B3542"/>
              </a:solidFill>
              <a:latin typeface="Aptos"/>
            </a:endParaRPr>
          </a:p>
          <a:p>
            <a:pPr>
              <a:spcAft>
                <a:spcPts val="800"/>
              </a:spcAft>
              <a:defRPr sz="1250">
                <a:solidFill>
                  <a:srgbClr val="2B3542"/>
                </a:solidFill>
                <a:latin typeface="Aptos"/>
              </a:defRPr>
            </a:pPr>
            <a:r>
              <a:rPr sz="1400" b="1" dirty="0">
                <a:solidFill>
                  <a:srgbClr val="008991"/>
                </a:solidFill>
                <a:latin typeface="Aptos"/>
              </a:rPr>
              <a:t>•  </a:t>
            </a:r>
            <a:r>
              <a:rPr sz="1400" b="1" dirty="0">
                <a:solidFill>
                  <a:srgbClr val="2B3542"/>
                </a:solidFill>
                <a:latin typeface="Aptos"/>
              </a:rPr>
              <a:t>MMLU vs. MMLU-Pro: </a:t>
            </a:r>
            <a:r>
              <a:rPr sz="1400" dirty="0" err="1">
                <a:solidFill>
                  <a:srgbClr val="2B3542"/>
                </a:solidFill>
                <a:latin typeface="Aptos"/>
              </a:rPr>
              <a:t>Jev</a:t>
            </a:r>
            <a:r>
              <a:rPr sz="1400" dirty="0">
                <a:solidFill>
                  <a:srgbClr val="2B3542"/>
                </a:solidFill>
                <a:latin typeface="Aptos"/>
              </a:rPr>
              <a:t> is 1.2 percentage points below the frontier median on MMLU, compared with 5.8 points below on MMLU-Pro.</a:t>
            </a:r>
          </a:p>
          <a:p>
            <a:pPr>
              <a:spcAft>
                <a:spcPts val="800"/>
              </a:spcAft>
              <a:defRPr sz="1250">
                <a:solidFill>
                  <a:srgbClr val="2B3542"/>
                </a:solidFill>
                <a:latin typeface="Aptos"/>
              </a:defRPr>
            </a:pPr>
            <a:r>
              <a:rPr sz="1400" b="1" dirty="0">
                <a:solidFill>
                  <a:srgbClr val="008991"/>
                </a:solidFill>
                <a:latin typeface="Aptos"/>
              </a:rPr>
              <a:t>•  </a:t>
            </a:r>
            <a:r>
              <a:rPr sz="1400" b="1" dirty="0">
                <a:solidFill>
                  <a:srgbClr val="2B3542"/>
                </a:solidFill>
                <a:latin typeface="Aptos"/>
              </a:rPr>
              <a:t>Chain-of-thought prompting: </a:t>
            </a:r>
            <a:r>
              <a:rPr sz="1400" dirty="0">
                <a:solidFill>
                  <a:srgbClr val="2B3542"/>
                </a:solidFill>
                <a:latin typeface="Aptos"/>
              </a:rPr>
              <a:t>In a cited study, it improved GPT-4o's score by 1.5 points on MMLU and 19.1 points on MMLU-Pro.</a:t>
            </a:r>
          </a:p>
          <a:p>
            <a:pPr>
              <a:spcAft>
                <a:spcPts val="800"/>
              </a:spcAft>
              <a:defRPr sz="1250">
                <a:solidFill>
                  <a:srgbClr val="2B3542"/>
                </a:solidFill>
                <a:latin typeface="Aptos"/>
              </a:defRPr>
            </a:pPr>
            <a:r>
              <a:rPr sz="1400" b="1" dirty="0">
                <a:solidFill>
                  <a:srgbClr val="008991"/>
                </a:solidFill>
                <a:latin typeface="Aptos"/>
              </a:rPr>
              <a:t>•  </a:t>
            </a:r>
            <a:r>
              <a:rPr sz="1400" b="1" dirty="0">
                <a:solidFill>
                  <a:srgbClr val="2B3542"/>
                </a:solidFill>
                <a:latin typeface="Aptos"/>
              </a:rPr>
              <a:t>DeepSeek-R1: </a:t>
            </a:r>
            <a:r>
              <a:rPr sz="1400" dirty="0">
                <a:solidFill>
                  <a:srgbClr val="2B3542"/>
                </a:solidFill>
                <a:latin typeface="Aptos"/>
              </a:rPr>
              <a:t>The strongest representative LLM in the paper, slightly ahead of </a:t>
            </a:r>
            <a:r>
              <a:rPr sz="1400" dirty="0" err="1">
                <a:solidFill>
                  <a:srgbClr val="2B3542"/>
                </a:solidFill>
                <a:latin typeface="Aptos"/>
              </a:rPr>
              <a:t>Jev</a:t>
            </a:r>
            <a:r>
              <a:rPr sz="1400" dirty="0">
                <a:solidFill>
                  <a:srgbClr val="2B3542"/>
                </a:solidFill>
                <a:latin typeface="Aptos"/>
              </a:rPr>
              <a:t> on average. It also leads </a:t>
            </a:r>
            <a:r>
              <a:rPr sz="1400" dirty="0" err="1">
                <a:solidFill>
                  <a:srgbClr val="2B3542"/>
                </a:solidFill>
                <a:latin typeface="Aptos"/>
              </a:rPr>
              <a:t>Jev</a:t>
            </a:r>
            <a:r>
              <a:rPr sz="1400" dirty="0">
                <a:solidFill>
                  <a:srgbClr val="2B3542"/>
                </a:solidFill>
                <a:latin typeface="Aptos"/>
              </a:rPr>
              <a:t> on MMLU-Pro, C-</a:t>
            </a:r>
            <a:r>
              <a:rPr sz="1400" dirty="0" err="1">
                <a:solidFill>
                  <a:srgbClr val="2B3542"/>
                </a:solidFill>
                <a:latin typeface="Aptos"/>
              </a:rPr>
              <a:t>Eval</a:t>
            </a:r>
            <a:r>
              <a:rPr sz="1400" dirty="0">
                <a:solidFill>
                  <a:srgbClr val="2B3542"/>
                </a:solidFill>
                <a:latin typeface="Aptos"/>
              </a:rPr>
              <a:t>, </a:t>
            </a:r>
            <a:r>
              <a:rPr sz="1400" dirty="0" err="1">
                <a:solidFill>
                  <a:srgbClr val="2B3542"/>
                </a:solidFill>
                <a:latin typeface="Aptos"/>
              </a:rPr>
              <a:t>HellaSwag</a:t>
            </a:r>
            <a:r>
              <a:rPr sz="1400" dirty="0">
                <a:solidFill>
                  <a:srgbClr val="2B3542"/>
                </a:solidFill>
                <a:latin typeface="Aptos"/>
              </a:rPr>
              <a:t>, and MMMLU, apart from the two math benchmarks.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01000" y="1508760"/>
            <a:ext cx="3246120" cy="4160520"/>
          </a:xfrm>
          <a:prstGeom prst="roundRect">
            <a:avLst>
              <a:gd name="adj" fmla="val 12000"/>
            </a:avLst>
          </a:prstGeom>
          <a:solidFill>
            <a:srgbClr val="F7F9FC"/>
          </a:solidFill>
          <a:ln w="10160"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75320" y="1755648"/>
            <a:ext cx="26974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  <a:defRPr sz="1500" b="1" i="0">
                <a:solidFill>
                  <a:srgbClr val="1A304E"/>
                </a:solidFill>
                <a:latin typeface="Aptos"/>
              </a:defRPr>
            </a:pPr>
            <a:r>
              <a:t>Jev's gap from frontier median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57031" y="2542032"/>
            <a:ext cx="2697480" cy="594360"/>
          </a:xfrm>
          <a:prstGeom prst="roundRect">
            <a:avLst>
              <a:gd name="adj" fmla="val 12000"/>
            </a:avLst>
          </a:prstGeom>
          <a:solidFill>
            <a:srgbClr val="E9F6EF"/>
          </a:solidFill>
          <a:ln w="10160">
            <a:solidFill>
              <a:srgbClr val="E9F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12480" y="2697479"/>
            <a:ext cx="123444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200" b="1" i="0">
                <a:solidFill>
                  <a:srgbClr val="1A304E"/>
                </a:solidFill>
                <a:latin typeface="Aptos"/>
              </a:defRPr>
            </a:pPr>
            <a:r>
              <a:t>MMLU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46920" y="2697479"/>
            <a:ext cx="109728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  <a:defRPr sz="1200" b="1" i="0">
                <a:solidFill>
                  <a:srgbClr val="337E5F"/>
                </a:solidFill>
                <a:latin typeface="Aptos"/>
              </a:defRPr>
            </a:pPr>
            <a:r>
              <a:t>−1.2 pts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57031" y="3364991"/>
            <a:ext cx="2697480" cy="594360"/>
          </a:xfrm>
          <a:prstGeom prst="roundRect">
            <a:avLst>
              <a:gd name="adj" fmla="val 12000"/>
            </a:avLst>
          </a:prstGeom>
          <a:solidFill>
            <a:srgbClr val="EBF3FB"/>
          </a:solidFill>
          <a:ln w="10160">
            <a:solidFill>
              <a:srgbClr val="EBF3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12480" y="3520439"/>
            <a:ext cx="123444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200" b="1" i="0">
                <a:solidFill>
                  <a:srgbClr val="1A304E"/>
                </a:solidFill>
                <a:latin typeface="Aptos"/>
              </a:defRPr>
            </a:pPr>
            <a:r>
              <a:t>MMLU-Pro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46920" y="3520439"/>
            <a:ext cx="109728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  <a:defRPr sz="1200" b="1" i="0">
                <a:solidFill>
                  <a:srgbClr val="365E91"/>
                </a:solidFill>
                <a:latin typeface="Aptos"/>
              </a:defRPr>
            </a:pPr>
            <a:r>
              <a:t>−5.8 pts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57031" y="4187952"/>
            <a:ext cx="2697480" cy="594360"/>
          </a:xfrm>
          <a:prstGeom prst="roundRect">
            <a:avLst>
              <a:gd name="adj" fmla="val 12000"/>
            </a:avLst>
          </a:prstGeom>
          <a:solidFill>
            <a:srgbClr val="FAEDED"/>
          </a:solidFill>
          <a:ln w="10160">
            <a:solidFill>
              <a:srgbClr val="FA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12480" y="4343400"/>
            <a:ext cx="123444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200" b="1" i="0">
                <a:solidFill>
                  <a:srgbClr val="1A304E"/>
                </a:solidFill>
                <a:latin typeface="Aptos"/>
              </a:defRPr>
            </a:pPr>
            <a:r>
              <a:t>MathQA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46920" y="4343400"/>
            <a:ext cx="109728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  <a:defRPr sz="1200" b="1" i="0">
                <a:solidFill>
                  <a:srgbClr val="B85454"/>
                </a:solidFill>
                <a:latin typeface="Aptos"/>
              </a:defRPr>
            </a:pPr>
            <a:r>
              <a:t>−17.7 pts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" y="5897880"/>
            <a:ext cx="14173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250" b="1" i="0">
                <a:solidFill>
                  <a:srgbClr val="008991"/>
                </a:solidFill>
                <a:latin typeface="Aptos"/>
              </a:defRPr>
            </a:pPr>
            <a:r>
              <a:t>Main takeaway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5852160"/>
            <a:ext cx="88239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300" b="1" i="0">
                <a:solidFill>
                  <a:srgbClr val="1A304E"/>
                </a:solidFill>
                <a:latin typeface="Aptos"/>
              </a:defRPr>
            </a:pPr>
            <a:r>
              <a:t>Jev's performance gap tends to increase on tasks requiring more calculation and multi-step reasoning.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38912"/>
            <a:ext cx="91440" cy="429768"/>
          </a:xfrm>
          <a:prstGeom prst="rect">
            <a:avLst/>
          </a:prstGeom>
          <a:solidFill>
            <a:srgbClr val="008991"/>
          </a:solidFill>
          <a:ln w="10160">
            <a:solidFill>
              <a:srgbClr val="0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49808" y="365760"/>
            <a:ext cx="107899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2600" b="1" i="0">
                <a:solidFill>
                  <a:srgbClr val="1A304E"/>
                </a:solidFill>
                <a:latin typeface="Aptos Display"/>
              </a:defRPr>
            </a:pPr>
            <a:r>
              <a:t>Multilingual Performance: Translated vs. Native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" y="914400"/>
            <a:ext cx="105156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900" b="1" i="0">
                <a:solidFill>
                  <a:srgbClr val="008991"/>
                </a:solidFill>
                <a:latin typeface="Aptos"/>
              </a:defRPr>
            </a:pPr>
            <a:r>
              <a:t>LANGUAGE AND QUESTION ORIGIN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11155680" cy="10972"/>
          </a:xfrm>
          <a:prstGeom prst="rect">
            <a:avLst/>
          </a:prstGeom>
          <a:solidFill>
            <a:srgbClr val="DCE4ED"/>
          </a:solidFill>
          <a:ln w="10160"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064240" y="6492240"/>
            <a:ext cx="50292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  <a:defRPr sz="900" b="0" i="0">
                <a:solidFill>
                  <a:srgbClr val="667588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161288"/>
            <a:ext cx="1069848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450" b="0" i="0">
                <a:solidFill>
                  <a:srgbClr val="2B3542"/>
                </a:solidFill>
                <a:latin typeface="Aptos"/>
              </a:defRPr>
            </a:pPr>
            <a:r>
              <a:t>The study distinguishes translated benchmark questions from questions drawn from Chinese exams.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737360"/>
            <a:ext cx="5074920" cy="3429000"/>
          </a:xfrm>
          <a:prstGeom prst="roundRect">
            <a:avLst>
              <a:gd name="adj" fmla="val 12000"/>
            </a:avLst>
          </a:prstGeom>
          <a:solidFill>
            <a:srgbClr val="EBF3FB"/>
          </a:solidFill>
          <a:ln w="10160"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914400" y="1911095"/>
            <a:ext cx="54864" cy="3081528"/>
          </a:xfrm>
          <a:prstGeom prst="rect">
            <a:avLst/>
          </a:prstGeom>
          <a:solidFill>
            <a:srgbClr val="365E91"/>
          </a:solidFill>
          <a:ln w="10160">
            <a:solidFill>
              <a:srgbClr val="365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69848" y="1892807"/>
            <a:ext cx="4636008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700" b="1" i="0">
                <a:solidFill>
                  <a:srgbClr val="1A304E"/>
                </a:solidFill>
                <a:latin typeface="Aptos"/>
              </a:defRPr>
            </a:pPr>
            <a:r>
              <a:t>Translated questions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" y="2286000"/>
            <a:ext cx="4636008" cy="1538883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300" b="0" i="0">
                <a:solidFill>
                  <a:srgbClr val="2B3542"/>
                </a:solidFill>
                <a:latin typeface="Aptos"/>
              </a:defRPr>
            </a:pPr>
            <a:r>
              <a:rPr sz="1400" dirty="0"/>
              <a:t>• MMMLU: MMLU translated into 14 languages.</a:t>
            </a:r>
          </a:p>
          <a:p>
            <a:pPr algn="l">
              <a:spcAft>
                <a:spcPts val="300"/>
              </a:spcAft>
              <a:defRPr sz="1300" b="0" i="0">
                <a:solidFill>
                  <a:srgbClr val="2B3542"/>
                </a:solidFill>
                <a:latin typeface="Aptos"/>
              </a:defRPr>
            </a:pPr>
            <a:endParaRPr sz="1400" dirty="0"/>
          </a:p>
          <a:p>
            <a:pPr algn="l">
              <a:spcAft>
                <a:spcPts val="300"/>
              </a:spcAft>
              <a:defRPr sz="1300" b="0" i="0">
                <a:solidFill>
                  <a:srgbClr val="2B3542"/>
                </a:solidFill>
                <a:latin typeface="Aptos"/>
              </a:defRPr>
            </a:pPr>
            <a:r>
              <a:rPr sz="1400" dirty="0"/>
              <a:t>• MMLU-</a:t>
            </a:r>
            <a:r>
              <a:rPr sz="1400" dirty="0" err="1"/>
              <a:t>ProX</a:t>
            </a:r>
            <a:r>
              <a:rPr sz="1400" dirty="0"/>
              <a:t>: MMLU-Pro translated into 29 languages.</a:t>
            </a:r>
          </a:p>
          <a:p>
            <a:pPr algn="l">
              <a:spcAft>
                <a:spcPts val="300"/>
              </a:spcAft>
              <a:defRPr sz="1300" b="0" i="0">
                <a:solidFill>
                  <a:srgbClr val="2B3542"/>
                </a:solidFill>
                <a:latin typeface="Aptos"/>
              </a:defRPr>
            </a:pPr>
            <a:endParaRPr sz="1400" dirty="0"/>
          </a:p>
          <a:p>
            <a:pPr algn="l">
              <a:spcAft>
                <a:spcPts val="300"/>
              </a:spcAft>
              <a:defRPr sz="1300" b="0" i="0">
                <a:solidFill>
                  <a:srgbClr val="2B3542"/>
                </a:solidFill>
                <a:latin typeface="Aptos"/>
              </a:defRPr>
            </a:pPr>
            <a:r>
              <a:rPr sz="1400" dirty="0"/>
              <a:t>• </a:t>
            </a:r>
            <a:r>
              <a:rPr sz="1400" dirty="0" err="1"/>
              <a:t>Jev</a:t>
            </a:r>
            <a:r>
              <a:rPr sz="1400" dirty="0"/>
              <a:t> performs well on translated multilingual questions, remaining competitive with frontier LLMs on MMLU-</a:t>
            </a:r>
            <a:r>
              <a:rPr sz="1400" dirty="0" err="1"/>
              <a:t>ProX.</a:t>
            </a:r>
            <a:endParaRPr sz="1400" dirty="0"/>
          </a:p>
        </p:txBody>
      </p:sp>
      <p:sp>
        <p:nvSpPr>
          <p:cNvPr id="13" name="Rounded Rectangle 12"/>
          <p:cNvSpPr/>
          <p:nvPr/>
        </p:nvSpPr>
        <p:spPr>
          <a:xfrm>
            <a:off x="6263640" y="1737360"/>
            <a:ext cx="5074920" cy="3429000"/>
          </a:xfrm>
          <a:prstGeom prst="roundRect">
            <a:avLst>
              <a:gd name="adj" fmla="val 12000"/>
            </a:avLst>
          </a:prstGeom>
          <a:solidFill>
            <a:srgbClr val="FCF6E8"/>
          </a:solidFill>
          <a:ln w="10160"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400800" y="1911095"/>
            <a:ext cx="54864" cy="3081528"/>
          </a:xfrm>
          <a:prstGeom prst="rect">
            <a:avLst/>
          </a:prstGeom>
          <a:solidFill>
            <a:srgbClr val="DDA43E"/>
          </a:solidFill>
          <a:ln w="10160">
            <a:solidFill>
              <a:srgbClr val="DDA4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56248" y="1892807"/>
            <a:ext cx="4636008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700" b="1" i="0">
                <a:solidFill>
                  <a:srgbClr val="1A304E"/>
                </a:solidFill>
                <a:latin typeface="Aptos"/>
              </a:defRPr>
            </a:pPr>
            <a:r>
              <a:t>Questions from Chinese exams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56248" y="2286000"/>
            <a:ext cx="4636008" cy="1538883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300" b="0" i="0">
                <a:solidFill>
                  <a:srgbClr val="2B3542"/>
                </a:solidFill>
                <a:latin typeface="Aptos"/>
              </a:defRPr>
            </a:pPr>
            <a:r>
              <a:rPr sz="1400" dirty="0"/>
              <a:t>• C-</a:t>
            </a:r>
            <a:r>
              <a:rPr sz="1400" dirty="0" err="1"/>
              <a:t>Eval</a:t>
            </a:r>
            <a:r>
              <a:rPr sz="1400" dirty="0"/>
              <a:t>: Covers 52 disciplines in Chinese.</a:t>
            </a:r>
          </a:p>
          <a:p>
            <a:pPr algn="l">
              <a:spcAft>
                <a:spcPts val="300"/>
              </a:spcAft>
              <a:defRPr sz="1300" b="0" i="0">
                <a:solidFill>
                  <a:srgbClr val="2B3542"/>
                </a:solidFill>
                <a:latin typeface="Aptos"/>
              </a:defRPr>
            </a:pPr>
            <a:endParaRPr sz="1400" dirty="0"/>
          </a:p>
          <a:p>
            <a:pPr algn="l">
              <a:spcAft>
                <a:spcPts val="300"/>
              </a:spcAft>
              <a:defRPr sz="1300" b="0" i="0">
                <a:solidFill>
                  <a:srgbClr val="2B3542"/>
                </a:solidFill>
                <a:latin typeface="Aptos"/>
              </a:defRPr>
            </a:pPr>
            <a:r>
              <a:rPr sz="1400" dirty="0"/>
              <a:t>• </a:t>
            </a:r>
            <a:r>
              <a:rPr sz="1400" dirty="0" err="1"/>
              <a:t>Jev</a:t>
            </a:r>
            <a:r>
              <a:rPr sz="1400" dirty="0"/>
              <a:t> scores about 8 percentage points below the frontier median.</a:t>
            </a:r>
          </a:p>
          <a:p>
            <a:pPr algn="l">
              <a:spcAft>
                <a:spcPts val="300"/>
              </a:spcAft>
              <a:defRPr sz="1300" b="0" i="0">
                <a:solidFill>
                  <a:srgbClr val="2B3542"/>
                </a:solidFill>
                <a:latin typeface="Aptos"/>
              </a:defRPr>
            </a:pPr>
            <a:endParaRPr sz="1400" dirty="0"/>
          </a:p>
          <a:p>
            <a:pPr algn="l">
              <a:spcAft>
                <a:spcPts val="300"/>
              </a:spcAft>
              <a:defRPr sz="1300" b="0" i="0">
                <a:solidFill>
                  <a:srgbClr val="2B3542"/>
                </a:solidFill>
                <a:latin typeface="Aptos"/>
              </a:defRPr>
            </a:pPr>
            <a:r>
              <a:rPr sz="1400" dirty="0"/>
              <a:t>• It also falls behind all representative LLMs on C-</a:t>
            </a:r>
            <a:r>
              <a:rPr sz="1400" dirty="0" err="1"/>
              <a:t>Eval</a:t>
            </a:r>
            <a:r>
              <a:rPr sz="1400" dirty="0"/>
              <a:t>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05840" y="5440680"/>
            <a:ext cx="10149840" cy="713232"/>
          </a:xfrm>
          <a:prstGeom prst="roundRect">
            <a:avLst>
              <a:gd name="adj" fmla="val 12000"/>
            </a:avLst>
          </a:prstGeom>
          <a:solidFill>
            <a:srgbClr val="F7F9FC"/>
          </a:solidFill>
          <a:ln w="10160"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234440" y="5596128"/>
            <a:ext cx="14630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300" b="1" i="0">
                <a:solidFill>
                  <a:srgbClr val="008991"/>
                </a:solidFill>
                <a:latin typeface="Aptos"/>
              </a:defRPr>
            </a:pPr>
            <a:r>
              <a:t>Main takeaway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88920" y="5559552"/>
            <a:ext cx="790956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350" b="1" i="0">
                <a:solidFill>
                  <a:srgbClr val="1A304E"/>
                </a:solidFill>
                <a:latin typeface="Aptos"/>
              </a:defRPr>
            </a:pPr>
            <a:r>
              <a:t>Jev transfers reasonably well to translated questions, but struggles more with knowledge specific to Chinese exams.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38912"/>
            <a:ext cx="91440" cy="429768"/>
          </a:xfrm>
          <a:prstGeom prst="rect">
            <a:avLst/>
          </a:prstGeom>
          <a:solidFill>
            <a:srgbClr val="008991"/>
          </a:solidFill>
          <a:ln w="10160">
            <a:solidFill>
              <a:srgbClr val="0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49808" y="365760"/>
            <a:ext cx="107899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2600" b="1" i="0">
                <a:solidFill>
                  <a:srgbClr val="1A304E"/>
                </a:solidFill>
                <a:latin typeface="Aptos Display"/>
              </a:defRPr>
            </a:pPr>
            <a:r>
              <a:t>Reliability Check: Comparing Independent Evaluations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" y="914400"/>
            <a:ext cx="105156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900" b="1" i="0">
                <a:solidFill>
                  <a:srgbClr val="008991"/>
                </a:solidFill>
                <a:latin typeface="Aptos"/>
              </a:defRPr>
            </a:pPr>
            <a:r>
              <a:t>CROSS-EVALUATION COMPARISON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11155680" cy="10972"/>
          </a:xfrm>
          <a:prstGeom prst="rect">
            <a:avLst/>
          </a:prstGeom>
          <a:solidFill>
            <a:srgbClr val="DCE4ED"/>
          </a:solidFill>
          <a:ln w="10160"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064240" y="6492240"/>
            <a:ext cx="50292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  <a:defRPr sz="900" b="0" i="0">
                <a:solidFill>
                  <a:srgbClr val="667588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143000"/>
            <a:ext cx="1065276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400" b="0" i="0">
                <a:solidFill>
                  <a:srgbClr val="2B3542"/>
                </a:solidFill>
                <a:latin typeface="Aptos"/>
              </a:defRPr>
            </a:pPr>
            <a:r>
              <a:t>The researchers compared their results with an independent study by Deußer et al. (2026) across five shared benchmarks.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822960" y="1783080"/>
          <a:ext cx="10561320" cy="24871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331720"/>
                <a:gridCol w="3657600"/>
                <a:gridCol w="2194560"/>
              </a:tblGrid>
              <a:tr h="414528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Benchmark</a:t>
                      </a:r>
                    </a:p>
                  </a:txBody>
                  <a:tcPr marL="109728" marT="54864" marB="36576" anchor="ctr">
                    <a:solidFill>
                      <a:srgbClr val="1A30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This paper</a:t>
                      </a:r>
                    </a:p>
                  </a:txBody>
                  <a:tcPr marL="109728" marT="54864" marB="36576" anchor="ctr">
                    <a:solidFill>
                      <a:srgbClr val="1A30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Independent evaluation</a:t>
                      </a:r>
                    </a:p>
                  </a:txBody>
                  <a:tcPr marL="109728" marT="54864" marB="36576" anchor="ctr">
                    <a:solidFill>
                      <a:srgbClr val="1A30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Difference</a:t>
                      </a:r>
                    </a:p>
                  </a:txBody>
                  <a:tcPr marL="109728" marT="54864" marB="36576" anchor="ctr">
                    <a:solidFill>
                      <a:srgbClr val="1A304E"/>
                    </a:solidFill>
                  </a:tcPr>
                </a:tc>
              </a:tr>
              <a:tr h="414528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2B3542"/>
                          </a:solidFill>
                          <a:latin typeface="Aptos"/>
                        </a:defRPr>
                      </a:pPr>
                      <a:r>
                        <a:t>MMLU</a:t>
                      </a:r>
                    </a:p>
                  </a:txBody>
                  <a:tcPr marL="109728" marT="54864" marB="36576" anchor="ctr"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B3542"/>
                          </a:solidFill>
                          <a:latin typeface="Aptos"/>
                        </a:defRPr>
                      </a:pPr>
                      <a:r>
                        <a:t>91.3%</a:t>
                      </a:r>
                    </a:p>
                  </a:txBody>
                  <a:tcPr marL="109728" marT="54864" marB="36576" anchor="ctr"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B3542"/>
                          </a:solidFill>
                          <a:latin typeface="Aptos"/>
                        </a:defRPr>
                      </a:pPr>
                      <a:r>
                        <a:t>91.8%</a:t>
                      </a:r>
                    </a:p>
                  </a:txBody>
                  <a:tcPr marL="109728" marT="54864" marB="36576" anchor="ctr"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B3542"/>
                          </a:solidFill>
                          <a:latin typeface="Aptos"/>
                        </a:defRPr>
                      </a:pPr>
                      <a:r>
                        <a:t>0.5 pts</a:t>
                      </a:r>
                    </a:p>
                  </a:txBody>
                  <a:tcPr marL="109728" marT="54864" marB="36576" anchor="ctr">
                    <a:solidFill>
                      <a:srgbClr val="EBF3FB"/>
                    </a:solidFill>
                  </a:tcPr>
                </a:tc>
              </a:tr>
              <a:tr h="414528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2B3542"/>
                          </a:solidFill>
                          <a:latin typeface="Aptos"/>
                        </a:defRPr>
                      </a:pPr>
                      <a:r>
                        <a:t>C-Eval</a:t>
                      </a:r>
                    </a:p>
                  </a:txBody>
                  <a:tcPr marL="109728" marT="54864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B3542"/>
                          </a:solidFill>
                          <a:latin typeface="Aptos"/>
                        </a:defRPr>
                      </a:pPr>
                      <a:r>
                        <a:t>85.3%</a:t>
                      </a:r>
                    </a:p>
                  </a:txBody>
                  <a:tcPr marL="109728" marT="54864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B3542"/>
                          </a:solidFill>
                          <a:latin typeface="Aptos"/>
                        </a:defRPr>
                      </a:pPr>
                      <a:r>
                        <a:t>83.9%</a:t>
                      </a:r>
                    </a:p>
                  </a:txBody>
                  <a:tcPr marL="109728" marT="54864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B3542"/>
                          </a:solidFill>
                          <a:latin typeface="Aptos"/>
                        </a:defRPr>
                      </a:pPr>
                      <a:r>
                        <a:t>1.4 pts</a:t>
                      </a:r>
                    </a:p>
                  </a:txBody>
                  <a:tcPr marL="109728" marT="54864" marB="36576" anchor="ctr">
                    <a:solidFill>
                      <a:srgbClr val="FFFFFF"/>
                    </a:solidFill>
                  </a:tcPr>
                </a:tc>
              </a:tr>
              <a:tr h="414528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2B3542"/>
                          </a:solidFill>
                          <a:latin typeface="Aptos"/>
                        </a:defRPr>
                      </a:pPr>
                      <a:r>
                        <a:t>HellaSwag</a:t>
                      </a:r>
                    </a:p>
                  </a:txBody>
                  <a:tcPr marL="109728" marT="54864" marB="36576" anchor="ctr"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B3542"/>
                          </a:solidFill>
                          <a:latin typeface="Aptos"/>
                        </a:defRPr>
                      </a:pPr>
                      <a:r>
                        <a:t>89.3%</a:t>
                      </a:r>
                    </a:p>
                  </a:txBody>
                  <a:tcPr marL="109728" marT="54864" marB="36576" anchor="ctr"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B3542"/>
                          </a:solidFill>
                          <a:latin typeface="Aptos"/>
                        </a:defRPr>
                      </a:pPr>
                      <a:r>
                        <a:t>95.5%</a:t>
                      </a:r>
                    </a:p>
                  </a:txBody>
                  <a:tcPr marL="109728" marT="54864" marB="36576" anchor="ctr"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B3542"/>
                          </a:solidFill>
                          <a:latin typeface="Aptos"/>
                        </a:defRPr>
                      </a:pPr>
                      <a:r>
                        <a:t>6.2 pts</a:t>
                      </a:r>
                    </a:p>
                  </a:txBody>
                  <a:tcPr marL="109728" marT="54864" marB="36576" anchor="ctr">
                    <a:solidFill>
                      <a:srgbClr val="EBF3FB"/>
                    </a:solidFill>
                  </a:tcPr>
                </a:tc>
              </a:tr>
              <a:tr h="414528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2B3542"/>
                          </a:solidFill>
                          <a:latin typeface="Aptos"/>
                        </a:defRPr>
                      </a:pPr>
                      <a:r>
                        <a:t>WinoGrande</a:t>
                      </a:r>
                    </a:p>
                  </a:txBody>
                  <a:tcPr marL="109728" marT="54864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B3542"/>
                          </a:solidFill>
                          <a:latin typeface="Aptos"/>
                        </a:defRPr>
                      </a:pPr>
                      <a:r>
                        <a:t>91.8%</a:t>
                      </a:r>
                    </a:p>
                  </a:txBody>
                  <a:tcPr marL="109728" marT="54864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B3542"/>
                          </a:solidFill>
                          <a:latin typeface="Aptos"/>
                        </a:defRPr>
                      </a:pPr>
                      <a:r>
                        <a:t>91.4%</a:t>
                      </a:r>
                    </a:p>
                  </a:txBody>
                  <a:tcPr marL="109728" marT="54864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B3542"/>
                          </a:solidFill>
                          <a:latin typeface="Aptos"/>
                        </a:defRPr>
                      </a:pPr>
                      <a:r>
                        <a:t>0.4 pts</a:t>
                      </a:r>
                    </a:p>
                  </a:txBody>
                  <a:tcPr marL="109728" marT="54864" marB="36576" anchor="ctr">
                    <a:solidFill>
                      <a:srgbClr val="FFFFFF"/>
                    </a:solidFill>
                  </a:tcPr>
                </a:tc>
              </a:tr>
              <a:tr h="414528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2B3542"/>
                          </a:solidFill>
                          <a:latin typeface="Aptos"/>
                        </a:defRPr>
                      </a:pPr>
                      <a:r>
                        <a:t>ARC</a:t>
                      </a:r>
                    </a:p>
                  </a:txBody>
                  <a:tcPr marL="109728" marT="54864" marB="36576" anchor="ctr"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B3542"/>
                          </a:solidFill>
                          <a:latin typeface="Aptos"/>
                        </a:defRPr>
                      </a:pPr>
                      <a:r>
                        <a:t>97.6%</a:t>
                      </a:r>
                    </a:p>
                  </a:txBody>
                  <a:tcPr marL="109728" marT="54864" marB="36576" anchor="ctr"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B3542"/>
                          </a:solidFill>
                          <a:latin typeface="Aptos"/>
                        </a:defRPr>
                      </a:pPr>
                      <a:r>
                        <a:t>98.8%</a:t>
                      </a:r>
                    </a:p>
                  </a:txBody>
                  <a:tcPr marL="109728" marT="54864" marB="36576" anchor="ctr"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B3542"/>
                          </a:solidFill>
                          <a:latin typeface="Aptos"/>
                        </a:defRPr>
                      </a:pPr>
                      <a:r>
                        <a:t>1.2 pts*</a:t>
                      </a:r>
                    </a:p>
                  </a:txBody>
                  <a:tcPr marL="109728" marT="54864" marB="36576" anchor="ctr">
                    <a:solidFill>
                      <a:srgbClr val="EBF3FB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868680" y="4526280"/>
            <a:ext cx="4983480" cy="1097280"/>
          </a:xfrm>
          <a:prstGeom prst="roundRect">
            <a:avLst>
              <a:gd name="adj" fmla="val 12000"/>
            </a:avLst>
          </a:prstGeom>
          <a:solidFill>
            <a:srgbClr val="FCF6E8"/>
          </a:solidFill>
          <a:ln w="10160"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005839" y="4700016"/>
            <a:ext cx="54864" cy="749808"/>
          </a:xfrm>
          <a:prstGeom prst="rect">
            <a:avLst/>
          </a:prstGeom>
          <a:solidFill>
            <a:srgbClr val="DDA43E"/>
          </a:solidFill>
          <a:ln w="10160">
            <a:solidFill>
              <a:srgbClr val="DDA4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61288" y="4681728"/>
            <a:ext cx="4544568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400" b="1" i="0">
                <a:solidFill>
                  <a:srgbClr val="1A304E"/>
                </a:solidFill>
                <a:latin typeface="Aptos"/>
              </a:defRPr>
            </a:pPr>
            <a:r>
              <a:t>Why did HellaSwag differ?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61288" y="5074920"/>
            <a:ext cx="4544568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050" b="0" i="0">
                <a:solidFill>
                  <a:srgbClr val="2B3542"/>
                </a:solidFill>
                <a:latin typeface="Aptos"/>
              </a:defRPr>
            </a:pPr>
            <a:r>
              <a:t>The authors suggest that different request templates may have affected Jev's results, because it is sensitive to how answer options are presented.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4526280"/>
            <a:ext cx="4983480" cy="1097280"/>
          </a:xfrm>
          <a:prstGeom prst="roundRect">
            <a:avLst>
              <a:gd name="adj" fmla="val 12000"/>
            </a:avLst>
          </a:prstGeom>
          <a:solidFill>
            <a:srgbClr val="EBF3FB"/>
          </a:solidFill>
          <a:ln w="10160"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309360" y="4700016"/>
            <a:ext cx="54864" cy="749808"/>
          </a:xfrm>
          <a:prstGeom prst="rect">
            <a:avLst/>
          </a:prstGeom>
          <a:solidFill>
            <a:srgbClr val="365E91"/>
          </a:solidFill>
          <a:ln w="10160">
            <a:solidFill>
              <a:srgbClr val="365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64808" y="4681728"/>
            <a:ext cx="4544568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400" b="1" i="0">
                <a:solidFill>
                  <a:srgbClr val="1A304E"/>
                </a:solidFill>
                <a:latin typeface="Aptos"/>
              </a:defRPr>
            </a:pPr>
            <a:r>
              <a:t>How to interpret ARC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64808" y="5074920"/>
            <a:ext cx="4544568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050" b="0" i="0">
                <a:solidFill>
                  <a:srgbClr val="2B3542"/>
                </a:solidFill>
                <a:latin typeface="Aptos"/>
              </a:defRPr>
            </a:pPr>
            <a:r>
              <a:t>The ARC comparison is not like-for-like: the independent result combines ARC-Easy and ARC-Challenge.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5870448"/>
            <a:ext cx="102870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250" b="1" i="0">
                <a:solidFill>
                  <a:srgbClr val="008991"/>
                </a:solidFill>
                <a:latin typeface="Aptos"/>
              </a:defRPr>
            </a:pPr>
            <a:r>
              <a:t>Main takeaway: Jev's results were broadly consistent across evaluations, but question and option presentation can influence performance.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38912"/>
            <a:ext cx="91440" cy="429768"/>
          </a:xfrm>
          <a:prstGeom prst="rect">
            <a:avLst/>
          </a:prstGeom>
          <a:solidFill>
            <a:srgbClr val="008991"/>
          </a:solidFill>
          <a:ln w="10160">
            <a:solidFill>
              <a:srgbClr val="0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49808" y="365760"/>
            <a:ext cx="107899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2600" b="1" i="0">
                <a:solidFill>
                  <a:srgbClr val="1A304E"/>
                </a:solidFill>
                <a:latin typeface="Aptos Display"/>
              </a:defRPr>
            </a:pPr>
            <a:r>
              <a:t>Future Directions: Making Jev More Useful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" y="914400"/>
            <a:ext cx="105156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900" b="1" i="0">
                <a:solidFill>
                  <a:srgbClr val="008991"/>
                </a:solidFill>
                <a:latin typeface="Aptos"/>
              </a:defRPr>
            </a:pPr>
            <a:r>
              <a:t>WHAT COULD COME NEXT?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11155680" cy="10972"/>
          </a:xfrm>
          <a:prstGeom prst="rect">
            <a:avLst/>
          </a:prstGeom>
          <a:solidFill>
            <a:srgbClr val="DCE4ED"/>
          </a:solidFill>
          <a:ln w="10160"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064240" y="6492240"/>
            <a:ext cx="50292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  <a:defRPr sz="900" b="0" i="0">
                <a:solidFill>
                  <a:srgbClr val="667588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417320"/>
            <a:ext cx="4892040" cy="1965960"/>
          </a:xfrm>
          <a:prstGeom prst="roundRect">
            <a:avLst>
              <a:gd name="adj" fmla="val 12000"/>
            </a:avLst>
          </a:prstGeom>
          <a:solidFill>
            <a:srgbClr val="EBF3FB"/>
          </a:solidFill>
          <a:ln w="10160"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960120" y="1591056"/>
            <a:ext cx="54864" cy="1618488"/>
          </a:xfrm>
          <a:prstGeom prst="rect">
            <a:avLst/>
          </a:prstGeom>
          <a:solidFill>
            <a:srgbClr val="365E91"/>
          </a:solidFill>
          <a:ln w="10160">
            <a:solidFill>
              <a:srgbClr val="365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15568" y="1572768"/>
            <a:ext cx="4453127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700" b="1" i="0">
                <a:solidFill>
                  <a:srgbClr val="1A304E"/>
                </a:solidFill>
                <a:latin typeface="Aptos"/>
              </a:defRPr>
            </a:pPr>
            <a:r>
              <a:t>1. Evaluate all models under one protocol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1965960"/>
            <a:ext cx="4453127" cy="1307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400" b="0" i="0">
                <a:solidFill>
                  <a:srgbClr val="2B3542"/>
                </a:solidFill>
                <a:latin typeface="Aptos"/>
              </a:defRPr>
            </a:pPr>
            <a:r>
              <a:t>• Test all model tiers using the same evaluation approach.</a:t>
            </a:r>
          </a:p>
          <a:p>
            <a:pPr algn="l">
              <a:spcAft>
                <a:spcPts val="300"/>
              </a:spcAft>
              <a:defRPr sz="1400" b="0" i="0">
                <a:solidFill>
                  <a:srgbClr val="2B3542"/>
                </a:solidFill>
                <a:latin typeface="Aptos"/>
              </a:defRPr>
            </a:pPr>
            <a:r>
              <a:t>• Make comparisons more consistent and reliable.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46520" y="1417320"/>
            <a:ext cx="4892040" cy="1965960"/>
          </a:xfrm>
          <a:prstGeom prst="roundRect">
            <a:avLst>
              <a:gd name="adj" fmla="val 12000"/>
            </a:avLst>
          </a:prstGeom>
          <a:solidFill>
            <a:srgbClr val="E5F6F5"/>
          </a:solidFill>
          <a:ln w="10160"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583680" y="1591056"/>
            <a:ext cx="54864" cy="1618488"/>
          </a:xfrm>
          <a:prstGeom prst="rect">
            <a:avLst/>
          </a:prstGeom>
          <a:solidFill>
            <a:srgbClr val="008991"/>
          </a:solidFill>
          <a:ln w="10160">
            <a:solidFill>
              <a:srgbClr val="0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739128" y="1572768"/>
            <a:ext cx="4453127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600" b="1" i="0">
                <a:solidFill>
                  <a:srgbClr val="1A304E"/>
                </a:solidFill>
                <a:latin typeface="Aptos"/>
              </a:defRPr>
            </a:pPr>
            <a:r>
              <a:t>2. Use Jev's probabilities to route questions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39128" y="1965960"/>
            <a:ext cx="4453127" cy="1307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300" b="0" i="0">
                <a:solidFill>
                  <a:srgbClr val="2B3542"/>
                </a:solidFill>
                <a:latin typeface="Aptos"/>
              </a:defRPr>
            </a:pPr>
            <a:r>
              <a:t>• Investigate whether Jev's option probabilities can identify questions that need deeper reasoning.</a:t>
            </a:r>
          </a:p>
          <a:p>
            <a:pPr algn="l">
              <a:spcAft>
                <a:spcPts val="300"/>
              </a:spcAft>
              <a:defRPr sz="1300" b="0" i="0">
                <a:solidFill>
                  <a:srgbClr val="2B3542"/>
                </a:solidFill>
                <a:latin typeface="Aptos"/>
              </a:defRPr>
            </a:pPr>
            <a:r>
              <a:t>• Pass such questions to a reasoning-focused model when needed.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749039"/>
            <a:ext cx="201168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600" b="1" i="0">
                <a:solidFill>
                  <a:srgbClr val="1A304E"/>
                </a:solidFill>
                <a:latin typeface="Aptos"/>
              </a:defRPr>
            </a:pPr>
            <a:r>
              <a:t>Proposed approach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05840" y="4315968"/>
            <a:ext cx="2331720" cy="1051560"/>
          </a:xfrm>
          <a:prstGeom prst="roundRect">
            <a:avLst>
              <a:gd name="adj" fmla="val 12000"/>
            </a:avLst>
          </a:prstGeom>
          <a:solidFill>
            <a:srgbClr val="E5F6F5"/>
          </a:solidFill>
          <a:ln w="10160">
            <a:solidFill>
              <a:srgbClr val="E5F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43000" y="4535424"/>
            <a:ext cx="20574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  <a:defRPr sz="1400" b="1" i="0">
                <a:solidFill>
                  <a:srgbClr val="1A304E"/>
                </a:solidFill>
                <a:latin typeface="Aptos"/>
              </a:defRPr>
            </a:pPr>
            <a:r>
              <a:t>Jev handles</a:t>
            </a:r>
          </a:p>
          <a:p>
            <a:pPr algn="ctr">
              <a:spcAft>
                <a:spcPts val="300"/>
              </a:spcAft>
              <a:defRPr sz="1400" b="1" i="0">
                <a:solidFill>
                  <a:srgbClr val="1A304E"/>
                </a:solidFill>
                <a:latin typeface="Aptos"/>
              </a:defRPr>
            </a:pPr>
            <a:r>
              <a:t>suitable decisions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919472" y="4315968"/>
            <a:ext cx="2331720" cy="1051560"/>
          </a:xfrm>
          <a:prstGeom prst="roundRect">
            <a:avLst>
              <a:gd name="adj" fmla="val 12000"/>
            </a:avLst>
          </a:prstGeom>
          <a:solidFill>
            <a:srgbClr val="FCF6E8"/>
          </a:solidFill>
          <a:ln w="10160">
            <a:solidFill>
              <a:srgbClr val="FCF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056632" y="4535424"/>
            <a:ext cx="20574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  <a:defRPr sz="1400" b="1" i="0">
                <a:solidFill>
                  <a:srgbClr val="1A304E"/>
                </a:solidFill>
                <a:latin typeface="Aptos"/>
              </a:defRPr>
            </a:pPr>
            <a:r>
              <a:t>Assess whether deeper</a:t>
            </a:r>
          </a:p>
          <a:p>
            <a:pPr algn="ctr">
              <a:spcAft>
                <a:spcPts val="300"/>
              </a:spcAft>
              <a:defRPr sz="1400" b="1" i="0">
                <a:solidFill>
                  <a:srgbClr val="1A304E"/>
                </a:solidFill>
                <a:latin typeface="Aptos"/>
              </a:defRPr>
            </a:pPr>
            <a:r>
              <a:t>reasoning is needed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823960" y="4315968"/>
            <a:ext cx="2331720" cy="1051560"/>
          </a:xfrm>
          <a:prstGeom prst="roundRect">
            <a:avLst>
              <a:gd name="adj" fmla="val 12000"/>
            </a:avLst>
          </a:prstGeom>
          <a:solidFill>
            <a:srgbClr val="EBF3FB"/>
          </a:solidFill>
          <a:ln w="10160">
            <a:solidFill>
              <a:srgbClr val="EBF3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961120" y="4535424"/>
            <a:ext cx="20574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  <a:defRPr sz="1400" b="1" i="0">
                <a:solidFill>
                  <a:srgbClr val="1A304E"/>
                </a:solidFill>
                <a:latin typeface="Aptos"/>
              </a:defRPr>
            </a:pPr>
            <a:r>
              <a:t>Reasoning model handles</a:t>
            </a:r>
          </a:p>
          <a:p>
            <a:pPr algn="ctr">
              <a:spcAft>
                <a:spcPts val="300"/>
              </a:spcAft>
              <a:defRPr sz="1400" b="1" i="0">
                <a:solidFill>
                  <a:srgbClr val="1A304E"/>
                </a:solidFill>
                <a:latin typeface="Aptos"/>
              </a:defRPr>
            </a:pPr>
            <a:r>
              <a:t>complex questions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456432" y="4828032"/>
            <a:ext cx="1252728" cy="0"/>
          </a:xfrm>
          <a:prstGeom prst="line">
            <a:avLst/>
          </a:prstGeom>
          <a:ln w="25400">
            <a:solidFill>
              <a:srgbClr val="0089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388352" y="4828032"/>
            <a:ext cx="1225296" cy="0"/>
          </a:xfrm>
          <a:prstGeom prst="line">
            <a:avLst/>
          </a:prstGeom>
          <a:ln w="25400">
            <a:solidFill>
              <a:srgbClr val="0089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1965960" y="5715000"/>
            <a:ext cx="8229600" cy="438912"/>
          </a:xfrm>
          <a:prstGeom prst="roundRect">
            <a:avLst>
              <a:gd name="adj" fmla="val 12000"/>
            </a:avLst>
          </a:prstGeom>
          <a:solidFill>
            <a:srgbClr val="F7F9FC"/>
          </a:solidFill>
          <a:ln w="10160"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148840" y="5824728"/>
            <a:ext cx="786384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  <a:defRPr sz="1100" b="0" i="1">
                <a:solidFill>
                  <a:srgbClr val="667588"/>
                </a:solidFill>
                <a:latin typeface="Aptos"/>
              </a:defRPr>
            </a:pPr>
            <a:r>
              <a:t>This is a proposed future approach, not a system demonstrated by the paper.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38912"/>
            <a:ext cx="91440" cy="429768"/>
          </a:xfrm>
          <a:prstGeom prst="rect">
            <a:avLst/>
          </a:prstGeom>
          <a:solidFill>
            <a:srgbClr val="008991"/>
          </a:solidFill>
          <a:ln w="10160">
            <a:solidFill>
              <a:srgbClr val="0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49808" y="365760"/>
            <a:ext cx="107899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2600" b="1" i="0">
                <a:solidFill>
                  <a:srgbClr val="1A304E"/>
                </a:solidFill>
                <a:latin typeface="Aptos Display"/>
              </a:defRPr>
            </a:pPr>
            <a:r>
              <a:t>Conclusion: The Right Model for the Right Task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" y="914400"/>
            <a:ext cx="105156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900" b="1" i="0">
                <a:solidFill>
                  <a:srgbClr val="008991"/>
                </a:solidFill>
                <a:latin typeface="Aptos"/>
              </a:defRPr>
            </a:pPr>
            <a:r>
              <a:t>KEY TAKEAWAYS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11155680" cy="10972"/>
          </a:xfrm>
          <a:prstGeom prst="rect">
            <a:avLst/>
          </a:prstGeom>
          <a:solidFill>
            <a:srgbClr val="DCE4ED"/>
          </a:solidFill>
          <a:ln w="10160"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064240" y="6492240"/>
            <a:ext cx="50292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  <a:defRPr sz="900" b="0" i="0">
                <a:solidFill>
                  <a:srgbClr val="667588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417320"/>
            <a:ext cx="5074920" cy="1353312"/>
          </a:xfrm>
          <a:prstGeom prst="roundRect">
            <a:avLst>
              <a:gd name="adj" fmla="val 12000"/>
            </a:avLst>
          </a:prstGeom>
          <a:solidFill>
            <a:srgbClr val="EBF3FB"/>
          </a:solidFill>
          <a:ln w="10160"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960120" y="1591056"/>
            <a:ext cx="54864" cy="1005840"/>
          </a:xfrm>
          <a:prstGeom prst="rect">
            <a:avLst/>
          </a:prstGeom>
          <a:solidFill>
            <a:srgbClr val="365E91"/>
          </a:solidFill>
          <a:ln w="10160">
            <a:solidFill>
              <a:srgbClr val="365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15568" y="1572768"/>
            <a:ext cx="4636008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600" b="1" i="0">
                <a:solidFill>
                  <a:srgbClr val="1A304E"/>
                </a:solidFill>
                <a:latin typeface="Aptos"/>
              </a:defRPr>
            </a:pPr>
            <a:r>
              <a:t>Knowledge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1965960"/>
            <a:ext cx="4636008" cy="6949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200" b="0" i="0">
                <a:solidFill>
                  <a:srgbClr val="2B3542"/>
                </a:solidFill>
                <a:latin typeface="Aptos"/>
              </a:defRPr>
            </a:pPr>
            <a:r>
              <a:t>Jev performs well on several knowledge and commonsense benchmarks.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2" y="1417320"/>
            <a:ext cx="5074920" cy="1353312"/>
          </a:xfrm>
          <a:prstGeom prst="roundRect">
            <a:avLst>
              <a:gd name="adj" fmla="val 12000"/>
            </a:avLst>
          </a:prstGeom>
          <a:solidFill>
            <a:srgbClr val="FAEDED"/>
          </a:solidFill>
          <a:ln w="10160"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336792" y="1591056"/>
            <a:ext cx="54864" cy="1005840"/>
          </a:xfrm>
          <a:prstGeom prst="rect">
            <a:avLst/>
          </a:prstGeom>
          <a:solidFill>
            <a:srgbClr val="B85454"/>
          </a:solidFill>
          <a:ln w="10160">
            <a:solidFill>
              <a:srgbClr val="B85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92240" y="1572768"/>
            <a:ext cx="4636008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600" b="1" i="0">
                <a:solidFill>
                  <a:srgbClr val="1A304E"/>
                </a:solidFill>
                <a:latin typeface="Aptos"/>
              </a:defRPr>
            </a:pPr>
            <a:r>
              <a:t>Mathematics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1965960"/>
            <a:ext cx="4636008" cy="6949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200" b="0" i="0">
                <a:solidFill>
                  <a:srgbClr val="2B3542"/>
                </a:solidFill>
                <a:latin typeface="Aptos"/>
              </a:defRPr>
            </a:pPr>
            <a:r>
              <a:t>It struggles compared with general-purpose LLMs on mathematical problem-solving.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3063240"/>
            <a:ext cx="5074920" cy="1353312"/>
          </a:xfrm>
          <a:prstGeom prst="roundRect">
            <a:avLst>
              <a:gd name="adj" fmla="val 12000"/>
            </a:avLst>
          </a:prstGeom>
          <a:solidFill>
            <a:srgbClr val="FCF6E8"/>
          </a:solidFill>
          <a:ln w="10160"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960120" y="3236976"/>
            <a:ext cx="54864" cy="1005840"/>
          </a:xfrm>
          <a:prstGeom prst="rect">
            <a:avLst/>
          </a:prstGeom>
          <a:solidFill>
            <a:srgbClr val="DDA43E"/>
          </a:solidFill>
          <a:ln w="10160">
            <a:solidFill>
              <a:srgbClr val="DDA4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15568" y="3218688"/>
            <a:ext cx="4636008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600" b="1" i="0">
                <a:solidFill>
                  <a:srgbClr val="1A304E"/>
                </a:solidFill>
                <a:latin typeface="Aptos"/>
              </a:defRPr>
            </a:pPr>
            <a:r>
              <a:t>Multilingual tasks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" y="3611880"/>
            <a:ext cx="4636008" cy="6949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200" b="0" i="0">
                <a:solidFill>
                  <a:srgbClr val="2B3542"/>
                </a:solidFill>
                <a:latin typeface="Aptos"/>
              </a:defRPr>
            </a:pPr>
            <a:r>
              <a:t>It performs reasonably well on translated questions but faces challenges with Chinese exam-specific knowledge.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99632" y="3063240"/>
            <a:ext cx="5074920" cy="1353312"/>
          </a:xfrm>
          <a:prstGeom prst="roundRect">
            <a:avLst>
              <a:gd name="adj" fmla="val 12000"/>
            </a:avLst>
          </a:prstGeom>
          <a:solidFill>
            <a:srgbClr val="E5F6F5"/>
          </a:solidFill>
          <a:ln w="10160"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336792" y="3236976"/>
            <a:ext cx="54864" cy="1005840"/>
          </a:xfrm>
          <a:prstGeom prst="rect">
            <a:avLst/>
          </a:prstGeom>
          <a:solidFill>
            <a:srgbClr val="008991"/>
          </a:solidFill>
          <a:ln w="10160">
            <a:solidFill>
              <a:srgbClr val="0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92240" y="3218688"/>
            <a:ext cx="4636008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600" b="1" i="0">
                <a:solidFill>
                  <a:srgbClr val="1A304E"/>
                </a:solidFill>
                <a:latin typeface="Aptos"/>
              </a:defRPr>
            </a:pPr>
            <a:r>
              <a:t>Practical use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3611880"/>
            <a:ext cx="4636008" cy="6949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200" b="0" i="0">
                <a:solidFill>
                  <a:srgbClr val="2B3542"/>
                </a:solidFill>
                <a:latin typeface="Aptos"/>
              </a:defRPr>
            </a:pPr>
            <a:r>
              <a:t>Jev may be useful for specific decision-making tasks, while complex questions may benefit from models with stronger reasoning capabilities.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51560" y="4983480"/>
            <a:ext cx="10058400" cy="804672"/>
          </a:xfrm>
          <a:prstGeom prst="roundRect">
            <a:avLst>
              <a:gd name="adj" fmla="val 12000"/>
            </a:avLst>
          </a:prstGeom>
          <a:solidFill>
            <a:srgbClr val="1A304E"/>
          </a:solidFill>
          <a:ln w="10160">
            <a:solidFill>
              <a:srgbClr val="1A3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325880" y="5175504"/>
            <a:ext cx="950976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  <a:defRPr sz="1700" b="1" i="0">
                <a:solidFill>
                  <a:srgbClr val="FFFFFF"/>
                </a:solidFill>
                <a:latin typeface="Aptos"/>
              </a:defRPr>
            </a:pPr>
            <a:r>
              <a:t>The best model depends on the task, not just on whether it is a specialized model or a general-purpose LLM.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989320"/>
            <a:ext cx="105613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  <a:defRPr sz="2000" b="1" i="0">
                <a:solidFill>
                  <a:srgbClr val="008991"/>
                </a:solidFill>
                <a:latin typeface="Aptos"/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1743</Words>
  <Application>Microsoft Office PowerPoint</Application>
  <PresentationFormat>Custom</PresentationFormat>
  <Paragraphs>270</Paragraphs>
  <Slides>14</Slides>
  <Notes>14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Specialized Decision Models vs. General-Purpose LLMs</dc:title>
  <dc:subject>Benchmarking Jev Across Knowledge, Reasoning, and Multilingual Tasks</dc:subject>
  <dc:creator>Abirami J</dc:creator>
  <cp:keywords>Jev, LLMs, research paper review, knowledge, reasoning, multilingual</cp:keywords>
  <dc:description>generated using python-pptx</dc:description>
  <cp:lastModifiedBy>ADMIN</cp:lastModifiedBy>
  <cp:revision>4</cp:revision>
  <dcterms:created xsi:type="dcterms:W3CDTF">2013-01-27T09:14:16Z</dcterms:created>
  <dcterms:modified xsi:type="dcterms:W3CDTF">2026-10-28T01:00:57Z</dcterms:modified>
</cp:coreProperties>
</file>